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2" r:id="rId2"/>
    <p:sldId id="311" r:id="rId3"/>
  </p:sldIdLst>
  <p:sldSz cx="12190413" cy="6859588"/>
  <p:notesSz cx="6797675" cy="9926638"/>
  <p:defaultTextStyle>
    <a:defPPr>
      <a:defRPr lang="ko-KR"/>
    </a:defPPr>
    <a:lvl1pPr marL="0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9516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9033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58549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78065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97582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17098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36615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56131" algn="l" defTabSz="1039033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F5F5F"/>
    <a:srgbClr val="DDDDDD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0832C-8EDF-F9CE-412C-2CDE1E984D8D}" v="3" dt="2026-05-20T02:24:26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234" y="102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함석현|대리|다이소|부산안전관리팀" userId="S::hhs90@daiso.co.kr::ad838737-5578-4a0c-bdd4-649101a19dbd" providerId="AD" clId="Web-{1BE0832C-8EDF-F9CE-412C-2CDE1E984D8D}"/>
    <pc:docChg chg="modSld">
      <pc:chgData name="함석현|대리|다이소|부산안전관리팀" userId="S::hhs90@daiso.co.kr::ad838737-5578-4a0c-bdd4-649101a19dbd" providerId="AD" clId="Web-{1BE0832C-8EDF-F9CE-412C-2CDE1E984D8D}" dt="2026-05-20T02:24:25.264" v="0" actId="20577"/>
      <pc:docMkLst>
        <pc:docMk/>
      </pc:docMkLst>
      <pc:sldChg chg="modSp">
        <pc:chgData name="함석현|대리|다이소|부산안전관리팀" userId="S::hhs90@daiso.co.kr::ad838737-5578-4a0c-bdd4-649101a19dbd" providerId="AD" clId="Web-{1BE0832C-8EDF-F9CE-412C-2CDE1E984D8D}" dt="2026-05-20T02:24:25.264" v="0" actId="20577"/>
        <pc:sldMkLst>
          <pc:docMk/>
          <pc:sldMk cId="2176015410" sldId="311"/>
        </pc:sldMkLst>
        <pc:spChg chg="mod">
          <ac:chgData name="함석현|대리|다이소|부산안전관리팀" userId="S::hhs90@daiso.co.kr::ad838737-5578-4a0c-bdd4-649101a19dbd" providerId="AD" clId="Web-{1BE0832C-8EDF-F9CE-412C-2CDE1E984D8D}" dt="2026-05-20T02:24:25.264" v="0" actId="20577"/>
          <ac:spMkLst>
            <pc:docMk/>
            <pc:sldMk cId="2176015410" sldId="311"/>
            <ac:spMk id="7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A2900-3AD9-4C82-923E-219B8509CB59}" type="datetimeFigureOut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BD302-D57C-4AE7-A519-1F10B13E209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030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19516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39033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58549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78065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597582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17098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36615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56131" algn="l" defTabSz="1039033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281" y="2130920"/>
            <a:ext cx="10361851" cy="1470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562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9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90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585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780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97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17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36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56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A5CE2-C9C4-4A44-8C33-AD4EE1882AB7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33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5097-4203-4271-AD67-7B8EF9608544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389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2959" y="2907387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951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90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585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780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9758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170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366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56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5EBE-6BCB-4D4A-94EF-7E303891BB79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3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60314" y="1600572"/>
            <a:ext cx="5841240" cy="452701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704728" y="1600572"/>
            <a:ext cx="5841240" cy="452701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C40D-E9F4-4920-8819-7F82FB5B5124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196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9516" indent="0">
              <a:buNone/>
              <a:defRPr sz="2300" b="1"/>
            </a:lvl2pPr>
            <a:lvl3pPr marL="1039033" indent="0">
              <a:buNone/>
              <a:defRPr sz="2000" b="1"/>
            </a:lvl3pPr>
            <a:lvl4pPr marL="1558549" indent="0">
              <a:buNone/>
              <a:defRPr sz="1800" b="1"/>
            </a:lvl4pPr>
            <a:lvl5pPr marL="2078065" indent="0">
              <a:buNone/>
              <a:defRPr sz="1800" b="1"/>
            </a:lvl5pPr>
            <a:lvl6pPr marL="2597582" indent="0">
              <a:buNone/>
              <a:defRPr sz="1800" b="1"/>
            </a:lvl6pPr>
            <a:lvl7pPr marL="3117098" indent="0">
              <a:buNone/>
              <a:defRPr sz="1800" b="1"/>
            </a:lvl7pPr>
            <a:lvl8pPr marL="3636615" indent="0">
              <a:buNone/>
              <a:defRPr sz="1800" b="1"/>
            </a:lvl8pPr>
            <a:lvl9pPr marL="4156131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521" y="2175379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2561" y="1535469"/>
            <a:ext cx="5388332" cy="63991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9516" indent="0">
              <a:buNone/>
              <a:defRPr sz="2300" b="1"/>
            </a:lvl2pPr>
            <a:lvl3pPr marL="1039033" indent="0">
              <a:buNone/>
              <a:defRPr sz="2000" b="1"/>
            </a:lvl3pPr>
            <a:lvl4pPr marL="1558549" indent="0">
              <a:buNone/>
              <a:defRPr sz="1800" b="1"/>
            </a:lvl4pPr>
            <a:lvl5pPr marL="2078065" indent="0">
              <a:buNone/>
              <a:defRPr sz="1800" b="1"/>
            </a:lvl5pPr>
            <a:lvl6pPr marL="2597582" indent="0">
              <a:buNone/>
              <a:defRPr sz="1800" b="1"/>
            </a:lvl6pPr>
            <a:lvl7pPr marL="3117098" indent="0">
              <a:buNone/>
              <a:defRPr sz="1800" b="1"/>
            </a:lvl7pPr>
            <a:lvl8pPr marL="3636615" indent="0">
              <a:buNone/>
              <a:defRPr sz="1800" b="1"/>
            </a:lvl8pPr>
            <a:lvl9pPr marL="4156131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2561" y="2175379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52D0-79A8-43CA-90C1-B5B93251F074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02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5E44-9A5D-4CDE-9566-24EDF006023A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94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193C-D1CB-4D0B-9F1A-147D2535FABC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195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21" y="273113"/>
            <a:ext cx="4010562" cy="116231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114" y="273115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521" y="1435434"/>
            <a:ext cx="4010562" cy="4692149"/>
          </a:xfrm>
        </p:spPr>
        <p:txBody>
          <a:bodyPr/>
          <a:lstStyle>
            <a:lvl1pPr marL="0" indent="0">
              <a:buNone/>
              <a:defRPr sz="1600"/>
            </a:lvl1pPr>
            <a:lvl2pPr marL="519516" indent="0">
              <a:buNone/>
              <a:defRPr sz="1400"/>
            </a:lvl2pPr>
            <a:lvl3pPr marL="1039033" indent="0">
              <a:buNone/>
              <a:defRPr sz="1100"/>
            </a:lvl3pPr>
            <a:lvl4pPr marL="1558549" indent="0">
              <a:buNone/>
              <a:defRPr sz="1000"/>
            </a:lvl4pPr>
            <a:lvl5pPr marL="2078065" indent="0">
              <a:buNone/>
              <a:defRPr sz="1000"/>
            </a:lvl5pPr>
            <a:lvl6pPr marL="2597582" indent="0">
              <a:buNone/>
              <a:defRPr sz="1000"/>
            </a:lvl6pPr>
            <a:lvl7pPr marL="3117098" indent="0">
              <a:buNone/>
              <a:defRPr sz="1000"/>
            </a:lvl7pPr>
            <a:lvl8pPr marL="3636615" indent="0">
              <a:buNone/>
              <a:defRPr sz="1000"/>
            </a:lvl8pPr>
            <a:lvl9pPr marL="4156131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A875-116E-4FA6-B2E0-D6C750E880B1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04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406" y="4801712"/>
            <a:ext cx="7314248" cy="56686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19516" indent="0">
              <a:buNone/>
              <a:defRPr sz="3200"/>
            </a:lvl2pPr>
            <a:lvl3pPr marL="1039033" indent="0">
              <a:buNone/>
              <a:defRPr sz="2700"/>
            </a:lvl3pPr>
            <a:lvl4pPr marL="1558549" indent="0">
              <a:buNone/>
              <a:defRPr sz="2300"/>
            </a:lvl4pPr>
            <a:lvl5pPr marL="2078065" indent="0">
              <a:buNone/>
              <a:defRPr sz="2300"/>
            </a:lvl5pPr>
            <a:lvl6pPr marL="2597582" indent="0">
              <a:buNone/>
              <a:defRPr sz="2300"/>
            </a:lvl6pPr>
            <a:lvl7pPr marL="3117098" indent="0">
              <a:buNone/>
              <a:defRPr sz="2300"/>
            </a:lvl7pPr>
            <a:lvl8pPr marL="3636615" indent="0">
              <a:buNone/>
              <a:defRPr sz="2300"/>
            </a:lvl8pPr>
            <a:lvl9pPr marL="4156131" indent="0">
              <a:buNone/>
              <a:defRPr sz="23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406" y="5368581"/>
            <a:ext cx="7314248" cy="805048"/>
          </a:xfrm>
        </p:spPr>
        <p:txBody>
          <a:bodyPr/>
          <a:lstStyle>
            <a:lvl1pPr marL="0" indent="0">
              <a:buNone/>
              <a:defRPr sz="1600"/>
            </a:lvl1pPr>
            <a:lvl2pPr marL="519516" indent="0">
              <a:buNone/>
              <a:defRPr sz="1400"/>
            </a:lvl2pPr>
            <a:lvl3pPr marL="1039033" indent="0">
              <a:buNone/>
              <a:defRPr sz="1100"/>
            </a:lvl3pPr>
            <a:lvl4pPr marL="1558549" indent="0">
              <a:buNone/>
              <a:defRPr sz="1000"/>
            </a:lvl4pPr>
            <a:lvl5pPr marL="2078065" indent="0">
              <a:buNone/>
              <a:defRPr sz="1000"/>
            </a:lvl5pPr>
            <a:lvl6pPr marL="2597582" indent="0">
              <a:buNone/>
              <a:defRPr sz="1000"/>
            </a:lvl6pPr>
            <a:lvl7pPr marL="3117098" indent="0">
              <a:buNone/>
              <a:defRPr sz="1000"/>
            </a:lvl7pPr>
            <a:lvl8pPr marL="3636615" indent="0">
              <a:buNone/>
              <a:defRPr sz="1000"/>
            </a:lvl8pPr>
            <a:lvl9pPr marL="4156131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FB632-7E9F-4A3D-8B32-D93583BDAEC7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999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A51EC-89EA-407A-A1B9-C47B8BF2856E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159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74553" y="274703"/>
            <a:ext cx="2971414" cy="585288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60314" y="274703"/>
            <a:ext cx="8711067" cy="585288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F0F5-2825-43E9-AE6A-C1E1363837D7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268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</p:spPr>
        <p:txBody>
          <a:bodyPr vert="horz" lIns="103903" tIns="51952" rIns="103903" bIns="51952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03903" tIns="51952" rIns="103903" bIns="51952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</p:spPr>
        <p:txBody>
          <a:bodyPr vert="horz" lIns="103903" tIns="51952" rIns="103903" bIns="51952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10FB6-1180-4A8A-9310-3046ECE47D85}" type="datetime1">
              <a:rPr lang="ko-KR" altLang="en-US" smtClean="0"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</p:spPr>
        <p:txBody>
          <a:bodyPr vert="horz" lIns="103903" tIns="51952" rIns="103903" bIns="51952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</p:spPr>
        <p:txBody>
          <a:bodyPr vert="horz" lIns="103903" tIns="51952" rIns="103903" bIns="51952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E88B8-C937-4A64-AC5A-74EF8CEFA8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688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039033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9637" indent="-389637" algn="l" defTabSz="1039033" rtl="0" eaLnBrk="1" latinLnBrk="1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44214" indent="-324698" algn="l" defTabSz="1039033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98791" indent="-259758" algn="l" defTabSz="1039033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18307" indent="-259758" algn="l" defTabSz="1039033" rtl="0" eaLnBrk="1" latinLnBrk="1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7824" indent="-259758" algn="l" defTabSz="1039033" rtl="0" eaLnBrk="1" latinLnBrk="1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7340" indent="-259758" algn="l" defTabSz="1039033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76856" indent="-259758" algn="l" defTabSz="1039033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96373" indent="-259758" algn="l" defTabSz="1039033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15889" indent="-259758" algn="l" defTabSz="1039033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9516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9033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8549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8065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7582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7098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36615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56131" algn="l" defTabSz="103903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꺾인 연결선 78"/>
          <p:cNvCxnSpPr/>
          <p:nvPr/>
        </p:nvCxnSpPr>
        <p:spPr>
          <a:xfrm rot="16200000" flipV="1">
            <a:off x="6923110" y="2007808"/>
            <a:ext cx="899191" cy="3152205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/>
          <p:nvPr/>
        </p:nvCxnSpPr>
        <p:spPr>
          <a:xfrm rot="5400000">
            <a:off x="6386118" y="3307448"/>
            <a:ext cx="346263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/>
          <p:nvPr/>
        </p:nvCxnSpPr>
        <p:spPr>
          <a:xfrm flipV="1">
            <a:off x="3154093" y="2383880"/>
            <a:ext cx="2472155" cy="751677"/>
          </a:xfrm>
          <a:prstGeom prst="bentConnector3">
            <a:avLst>
              <a:gd name="adj1" fmla="val 107188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707219" y="2025638"/>
            <a:ext cx="1635492" cy="33196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9250" rtlCol="0" anchor="t"/>
          <a:lstStyle/>
          <a:p>
            <a:pPr algn="ctr"/>
            <a:r>
              <a:rPr lang="ko-KR" altLang="en-US" sz="1056" b="1" dirty="0">
                <a:solidFill>
                  <a:sysClr val="windowText" lastClr="000000"/>
                </a:solidFill>
              </a:rPr>
              <a:t>안전보건협의회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233777" y="2259666"/>
            <a:ext cx="1111623" cy="1951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94" dirty="0">
                <a:solidFill>
                  <a:schemeClr val="tx1"/>
                </a:solidFill>
              </a:rPr>
              <a:t>산업안전보건위원회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100596" y="1323560"/>
            <a:ext cx="1392016" cy="3319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9250" rtlCol="0" anchor="t"/>
          <a:lstStyle/>
          <a:p>
            <a:pPr algn="ctr"/>
            <a:r>
              <a:rPr lang="ko-KR" altLang="en-US" sz="1138" b="1" dirty="0">
                <a:solidFill>
                  <a:sysClr val="windowText" lastClr="000000"/>
                </a:solidFill>
              </a:rPr>
              <a:t>안전보건관리책임자</a:t>
            </a:r>
          </a:p>
        </p:txBody>
      </p:sp>
      <p:cxnSp>
        <p:nvCxnSpPr>
          <p:cNvPr id="31" name="꺾인 연결선 30"/>
          <p:cNvCxnSpPr/>
          <p:nvPr/>
        </p:nvCxnSpPr>
        <p:spPr>
          <a:xfrm flipV="1">
            <a:off x="3342711" y="1630535"/>
            <a:ext cx="2454148" cy="570178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1388880" y="3472242"/>
            <a:ext cx="922177" cy="7852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입고팀</a:t>
            </a:r>
            <a:r>
              <a:rPr lang="en-US" altLang="ko-KR" sz="731" b="1" dirty="0">
                <a:solidFill>
                  <a:schemeClr val="tx1"/>
                </a:solidFill>
              </a:rPr>
              <a:t>(4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홍정완</a:t>
            </a:r>
            <a:r>
              <a:rPr lang="ko-KR" altLang="en-US" sz="731" b="1" dirty="0">
                <a:solidFill>
                  <a:schemeClr val="tx1"/>
                </a:solidFill>
              </a:rPr>
              <a:t> 팀장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chemeClr val="tx1"/>
                </a:solidFill>
              </a:rPr>
              <a:t>백재훈</a:t>
            </a:r>
            <a:r>
              <a:rPr lang="ko-KR" altLang="en-US" sz="731" dirty="0">
                <a:solidFill>
                  <a:schemeClr val="tx1"/>
                </a:solidFill>
              </a:rPr>
              <a:t> 직장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chemeClr val="tx1"/>
                </a:solidFill>
              </a:rPr>
              <a:t>이태경 조장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rgbClr val="0000FF"/>
                </a:solidFill>
              </a:rPr>
              <a:t>김승진 </a:t>
            </a:r>
            <a:r>
              <a:rPr lang="ko-KR" altLang="en-US" sz="731" dirty="0" err="1">
                <a:solidFill>
                  <a:srgbClr val="0000FF"/>
                </a:solidFill>
              </a:rPr>
              <a:t>부조장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5561400" y="1562752"/>
            <a:ext cx="936883" cy="1951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94" dirty="0">
                <a:solidFill>
                  <a:sysClr val="windowText" lastClr="000000"/>
                </a:solidFill>
              </a:rPr>
              <a:t>이경상 이사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5109915" y="1957363"/>
            <a:ext cx="1388367" cy="46223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925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975" b="1" dirty="0">
                <a:solidFill>
                  <a:schemeClr val="tx1"/>
                </a:solidFill>
              </a:rPr>
              <a:t>부산허브센터</a:t>
            </a:r>
            <a:endParaRPr lang="en-US" altLang="ko-KR" sz="975" b="1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856932" y="2903237"/>
            <a:ext cx="1388367" cy="4680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9250" rtlCol="0" anchor="t"/>
          <a:lstStyle/>
          <a:p>
            <a:pPr algn="ctr"/>
            <a:r>
              <a:rPr lang="ko-KR" altLang="en-US" sz="975" b="1" dirty="0">
                <a:solidFill>
                  <a:schemeClr val="tx1"/>
                </a:solidFill>
              </a:rPr>
              <a:t>물류운영부</a:t>
            </a:r>
            <a:endParaRPr lang="en-US" altLang="ko-KR" sz="975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975" b="1" dirty="0" err="1">
                <a:solidFill>
                  <a:schemeClr val="tx1"/>
                </a:solidFill>
              </a:rPr>
              <a:t>관리감독자</a:t>
            </a:r>
            <a:endParaRPr lang="en-US" altLang="ko-KR" sz="975" b="1" dirty="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590206" y="1323562"/>
            <a:ext cx="2632792" cy="429521"/>
          </a:xfrm>
          <a:prstGeom prst="rect">
            <a:avLst/>
          </a:prstGeom>
          <a:noFill/>
        </p:spPr>
        <p:txBody>
          <a:bodyPr wrap="square" lIns="74322" tIns="37161" rIns="74322" bIns="37161" rtlCol="0" anchor="t">
            <a:spAutoFit/>
          </a:bodyPr>
          <a:lstStyle/>
          <a:p>
            <a:pPr marL="110962" indent="-11096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53" b="1" u="sng" dirty="0"/>
              <a:t>1</a:t>
            </a:r>
            <a:r>
              <a:rPr lang="ko-KR" altLang="en-US" sz="853" b="1" u="sng" dirty="0"/>
              <a:t>부문</a:t>
            </a:r>
            <a:r>
              <a:rPr lang="en-US" altLang="ko-KR" sz="853" b="1" u="sng" dirty="0"/>
              <a:t>, 2</a:t>
            </a:r>
            <a:r>
              <a:rPr lang="ko-KR" altLang="en-US" sz="853" b="1" u="sng" dirty="0"/>
              <a:t>부서</a:t>
            </a:r>
            <a:r>
              <a:rPr lang="en-US" altLang="ko-KR" sz="853" b="1" u="sng" dirty="0"/>
              <a:t>, 10</a:t>
            </a:r>
            <a:r>
              <a:rPr lang="ko-KR" altLang="en-US" sz="853" b="1" u="sng" dirty="0"/>
              <a:t>팀</a:t>
            </a:r>
            <a:endParaRPr lang="en-US" altLang="ko-KR" sz="853" b="1" u="sng" dirty="0"/>
          </a:p>
          <a:p>
            <a:pPr>
              <a:lnSpc>
                <a:spcPct val="120000"/>
              </a:lnSpc>
            </a:pPr>
            <a:r>
              <a:rPr lang="en-US" altLang="ko-KR" sz="853" dirty="0">
                <a:ea typeface="맑은 고딕"/>
              </a:rPr>
              <a:t>    - </a:t>
            </a:r>
            <a:r>
              <a:rPr lang="ko-KR" altLang="en-US" sz="853" dirty="0">
                <a:ea typeface="맑은 고딕"/>
              </a:rPr>
              <a:t>관리감독자 </a:t>
            </a:r>
            <a:r>
              <a:rPr lang="en-US" altLang="ko-KR" sz="853" dirty="0">
                <a:ea typeface="맑은 고딕"/>
              </a:rPr>
              <a:t>: 38</a:t>
            </a:r>
            <a:r>
              <a:rPr lang="ko-KR" altLang="en-US" sz="853" dirty="0">
                <a:ea typeface="맑은 고딕"/>
              </a:rPr>
              <a:t>명 </a:t>
            </a:r>
            <a:r>
              <a:rPr lang="en-US" altLang="ko-KR" sz="853" dirty="0">
                <a:ea typeface="맑은 고딕"/>
              </a:rPr>
              <a:t>(</a:t>
            </a:r>
            <a:r>
              <a:rPr lang="ko-KR" altLang="en-US" sz="853" dirty="0">
                <a:ea typeface="맑은 고딕"/>
              </a:rPr>
              <a:t>주간</a:t>
            </a:r>
            <a:r>
              <a:rPr lang="en-US" altLang="ko-KR" sz="853">
                <a:ea typeface="맑은 고딕"/>
              </a:rPr>
              <a:t>: 26</a:t>
            </a:r>
            <a:r>
              <a:rPr lang="ko-KR" altLang="en-US" sz="853" dirty="0">
                <a:ea typeface="맑은 고딕"/>
              </a:rPr>
              <a:t>명</a:t>
            </a:r>
            <a:r>
              <a:rPr lang="en-US" altLang="ko-KR" sz="853" dirty="0">
                <a:ea typeface="맑은 고딕"/>
              </a:rPr>
              <a:t>, </a:t>
            </a:r>
            <a:r>
              <a:rPr lang="ko-KR" altLang="en-US" sz="853" dirty="0">
                <a:ea typeface="맑은 고딕"/>
              </a:rPr>
              <a:t>야간</a:t>
            </a:r>
            <a:r>
              <a:rPr lang="en-US" altLang="ko-KR" sz="853" dirty="0">
                <a:ea typeface="맑은 고딕"/>
              </a:rPr>
              <a:t>: 12</a:t>
            </a:r>
            <a:r>
              <a:rPr lang="ko-KR" altLang="en-US" sz="853" dirty="0">
                <a:ea typeface="맑은 고딕"/>
              </a:rPr>
              <a:t>명</a:t>
            </a:r>
            <a:r>
              <a:rPr lang="en-US" altLang="ko-KR" sz="853" dirty="0">
                <a:ea typeface="맑은 고딕"/>
              </a:rPr>
              <a:t>)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2446329" y="3477806"/>
            <a:ext cx="901771" cy="9324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보충팀</a:t>
            </a:r>
            <a:r>
              <a:rPr lang="en-US" altLang="ko-KR" sz="731" b="1" dirty="0">
                <a:solidFill>
                  <a:schemeClr val="tx1"/>
                </a:solidFill>
              </a:rPr>
              <a:t>(5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박제봉</a:t>
            </a:r>
            <a:r>
              <a:rPr lang="ko-KR" altLang="en-US" sz="731" b="1" dirty="0">
                <a:solidFill>
                  <a:schemeClr val="tx1"/>
                </a:solidFill>
              </a:rPr>
              <a:t> 팀장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chemeClr val="tx1"/>
                </a:solidFill>
              </a:rPr>
              <a:t>이대현</a:t>
            </a:r>
            <a:r>
              <a:rPr lang="ko-KR" altLang="en-US" sz="731" dirty="0">
                <a:solidFill>
                  <a:schemeClr val="tx1"/>
                </a:solidFill>
              </a:rPr>
              <a:t> </a:t>
            </a:r>
            <a:r>
              <a:rPr lang="ko-KR" altLang="en-US" sz="731" dirty="0" err="1">
                <a:solidFill>
                  <a:schemeClr val="tx1"/>
                </a:solidFill>
              </a:rPr>
              <a:t>라인장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chemeClr val="tx1"/>
                </a:solidFill>
              </a:rPr>
              <a:t>이재원 조장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rgbClr val="0000FF"/>
                </a:solidFill>
              </a:rPr>
              <a:t>이건희 조장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rgbClr val="0000FF"/>
                </a:solidFill>
              </a:rPr>
              <a:t>강종길</a:t>
            </a:r>
            <a:r>
              <a:rPr lang="ko-KR" altLang="en-US" sz="731" dirty="0">
                <a:solidFill>
                  <a:srgbClr val="0000FF"/>
                </a:solidFill>
              </a:rPr>
              <a:t> </a:t>
            </a:r>
            <a:r>
              <a:rPr lang="ko-KR" altLang="en-US" sz="731" dirty="0" err="1">
                <a:solidFill>
                  <a:srgbClr val="0000FF"/>
                </a:solidFill>
              </a:rPr>
              <a:t>부조장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1388881" y="4288081"/>
            <a:ext cx="922177" cy="8948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322" tIns="37161" rIns="74322" bIns="37161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피킹팀</a:t>
            </a:r>
            <a:r>
              <a:rPr lang="en-US" altLang="ko-KR" sz="731" b="1" dirty="0">
                <a:solidFill>
                  <a:schemeClr val="tx1"/>
                </a:solidFill>
              </a:rPr>
              <a:t>(5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이석원 팀장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chemeClr val="tx1"/>
                </a:solidFill>
                <a:ea typeface="맑은 고딕"/>
              </a:rPr>
              <a:t>김연옥</a:t>
            </a:r>
            <a:r>
              <a:rPr lang="ko-KR" altLang="en-US" sz="731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ko-KR" altLang="en-US" sz="731" dirty="0" err="1">
                <a:solidFill>
                  <a:schemeClr val="tx1"/>
                </a:solidFill>
                <a:ea typeface="맑은 고딕"/>
              </a:rPr>
              <a:t>라인장</a:t>
            </a:r>
            <a:endParaRPr lang="en-US" altLang="ko-KR" sz="731" dirty="0">
              <a:solidFill>
                <a:schemeClr val="tx1"/>
              </a:solidFill>
              <a:ea typeface="맑은 고딕"/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chemeClr val="tx1"/>
                </a:solidFill>
                <a:ea typeface="맑은 고딕"/>
              </a:rPr>
              <a:t>문성환</a:t>
            </a:r>
            <a:r>
              <a:rPr lang="ko-KR" altLang="en-US" sz="731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ko-KR" altLang="en-US" sz="731" dirty="0" err="1">
                <a:solidFill>
                  <a:schemeClr val="tx1"/>
                </a:solidFill>
                <a:ea typeface="맑은 고딕"/>
              </a:rPr>
              <a:t>부조장</a:t>
            </a:r>
            <a:endParaRPr lang="ko-KR" altLang="en-US" sz="731" dirty="0">
              <a:solidFill>
                <a:schemeClr val="tx1"/>
              </a:solidFill>
              <a:ea typeface="맑은 고딕"/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rgbClr val="0000FF"/>
                </a:solidFill>
              </a:rPr>
              <a:t>윤관식</a:t>
            </a:r>
            <a:r>
              <a:rPr lang="ko-KR" altLang="en-US" sz="731" dirty="0">
                <a:solidFill>
                  <a:srgbClr val="0000FF"/>
                </a:solidFill>
              </a:rPr>
              <a:t> </a:t>
            </a:r>
            <a:r>
              <a:rPr lang="ko-KR" altLang="en-US" sz="731" dirty="0" err="1">
                <a:solidFill>
                  <a:srgbClr val="0000FF"/>
                </a:solidFill>
              </a:rPr>
              <a:t>라인장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rgbClr val="0000FF"/>
                </a:solidFill>
                <a:ea typeface="맑은 고딕"/>
              </a:rPr>
              <a:t>장해용 </a:t>
            </a:r>
            <a:r>
              <a:rPr lang="ko-KR" altLang="en-US" sz="731" dirty="0" err="1">
                <a:solidFill>
                  <a:srgbClr val="0000FF"/>
                </a:solidFill>
                <a:ea typeface="맑은 고딕"/>
              </a:rPr>
              <a:t>부조장</a:t>
            </a:r>
            <a:r>
              <a:rPr lang="en-US" altLang="ko-KR" sz="731" dirty="0">
                <a:solidFill>
                  <a:srgbClr val="0000FF"/>
                </a:solidFill>
                <a:ea typeface="맑은 고딕"/>
              </a:rPr>
              <a:t>(</a:t>
            </a:r>
            <a:r>
              <a:rPr lang="ko-KR" altLang="en-US" sz="731" dirty="0">
                <a:solidFill>
                  <a:srgbClr val="0000FF"/>
                </a:solidFill>
                <a:ea typeface="맑은 고딕"/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  <a:ea typeface="맑은 고딕"/>
              </a:rPr>
              <a:t>)</a:t>
            </a:r>
            <a:endParaRPr lang="ko-KR" altLang="en-US" sz="731" dirty="0">
              <a:solidFill>
                <a:srgbClr val="0000FF"/>
              </a:solidFill>
              <a:ea typeface="맑은 고딕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442106" y="4469172"/>
            <a:ext cx="905995" cy="89305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매장분류포장팀</a:t>
            </a:r>
            <a:r>
              <a:rPr lang="en-US" altLang="ko-KR" sz="731" b="1" dirty="0">
                <a:solidFill>
                  <a:schemeClr val="tx1"/>
                </a:solidFill>
              </a:rPr>
              <a:t>(5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김민주 팀장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chemeClr val="tx1"/>
                </a:solidFill>
              </a:rPr>
              <a:t>김진태 </a:t>
            </a:r>
            <a:r>
              <a:rPr lang="ko-KR" altLang="en-US" sz="731" dirty="0" err="1">
                <a:solidFill>
                  <a:schemeClr val="tx1"/>
                </a:solidFill>
              </a:rPr>
              <a:t>라인장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chemeClr val="tx1"/>
                </a:solidFill>
              </a:rPr>
              <a:t>정영민</a:t>
            </a:r>
            <a:r>
              <a:rPr lang="ko-KR" altLang="en-US" sz="731" dirty="0">
                <a:solidFill>
                  <a:schemeClr val="tx1"/>
                </a:solidFill>
              </a:rPr>
              <a:t> </a:t>
            </a:r>
            <a:r>
              <a:rPr lang="ko-KR" altLang="en-US" sz="731" dirty="0" err="1">
                <a:solidFill>
                  <a:schemeClr val="tx1"/>
                </a:solidFill>
              </a:rPr>
              <a:t>라인장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rgbClr val="0000FF"/>
                </a:solidFill>
              </a:rPr>
              <a:t>김왕태</a:t>
            </a:r>
            <a:r>
              <a:rPr lang="ko-KR" altLang="en-US" sz="731" dirty="0">
                <a:solidFill>
                  <a:srgbClr val="0000FF"/>
                </a:solidFill>
              </a:rPr>
              <a:t> </a:t>
            </a:r>
            <a:r>
              <a:rPr lang="ko-KR" altLang="en-US" sz="731" dirty="0" err="1">
                <a:solidFill>
                  <a:srgbClr val="0000FF"/>
                </a:solidFill>
              </a:rPr>
              <a:t>라인장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rgbClr val="0000FF"/>
                </a:solidFill>
              </a:rPr>
              <a:t>최효상</a:t>
            </a:r>
            <a:r>
              <a:rPr lang="ko-KR" altLang="en-US" sz="731" dirty="0">
                <a:solidFill>
                  <a:srgbClr val="0000FF"/>
                </a:solidFill>
              </a:rPr>
              <a:t> </a:t>
            </a:r>
            <a:r>
              <a:rPr lang="ko-KR" altLang="en-US" sz="731" dirty="0" err="1">
                <a:solidFill>
                  <a:srgbClr val="0000FF"/>
                </a:solidFill>
              </a:rPr>
              <a:t>부조장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  <a:endParaRPr lang="ko-KR" altLang="en-US" sz="731" dirty="0">
              <a:solidFill>
                <a:srgbClr val="0000FF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077415" y="2903237"/>
            <a:ext cx="1388367" cy="4680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9250" rtlCol="0" anchor="t"/>
          <a:lstStyle/>
          <a:p>
            <a:pPr algn="ctr"/>
            <a:r>
              <a:rPr lang="ko-KR" altLang="en-US" sz="975" b="1" dirty="0">
                <a:solidFill>
                  <a:schemeClr val="tx1"/>
                </a:solidFill>
              </a:rPr>
              <a:t>물류운영지원부</a:t>
            </a:r>
            <a:endParaRPr lang="en-US" altLang="ko-KR" sz="975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975" b="1" dirty="0" err="1">
                <a:solidFill>
                  <a:schemeClr val="tx1"/>
                </a:solidFill>
              </a:rPr>
              <a:t>관리감독자</a:t>
            </a:r>
            <a:endParaRPr lang="ko-KR" altLang="en-US" sz="975" b="1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3667870" y="3474822"/>
            <a:ext cx="916624" cy="9354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배차팀</a:t>
            </a:r>
            <a:r>
              <a:rPr lang="en-US" altLang="ko-KR" sz="731" b="1" dirty="0">
                <a:solidFill>
                  <a:schemeClr val="tx1"/>
                </a:solidFill>
              </a:rPr>
              <a:t>(5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백인국</a:t>
            </a:r>
            <a:r>
              <a:rPr lang="ko-KR" altLang="en-US" sz="731" b="1" dirty="0">
                <a:solidFill>
                  <a:schemeClr val="tx1"/>
                </a:solidFill>
              </a:rPr>
              <a:t> 팀장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chemeClr val="tx1"/>
                </a:solidFill>
              </a:rPr>
              <a:t>조종호</a:t>
            </a:r>
            <a:r>
              <a:rPr lang="ko-KR" altLang="en-US" sz="731" dirty="0">
                <a:solidFill>
                  <a:schemeClr val="tx1"/>
                </a:solidFill>
              </a:rPr>
              <a:t> 조장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chemeClr val="tx1"/>
                </a:solidFill>
              </a:rPr>
              <a:t>정진성 </a:t>
            </a:r>
            <a:r>
              <a:rPr lang="ko-KR" altLang="en-US" sz="731" dirty="0" err="1">
                <a:solidFill>
                  <a:schemeClr val="tx1"/>
                </a:solidFill>
              </a:rPr>
              <a:t>부조장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rgbClr val="0000FF"/>
                </a:solidFill>
              </a:rPr>
              <a:t>양승익</a:t>
            </a:r>
            <a:r>
              <a:rPr lang="ko-KR" altLang="en-US" sz="731" dirty="0">
                <a:solidFill>
                  <a:srgbClr val="0000FF"/>
                </a:solidFill>
              </a:rPr>
              <a:t> </a:t>
            </a:r>
            <a:r>
              <a:rPr lang="ko-KR" altLang="en-US" sz="731" dirty="0" err="1">
                <a:solidFill>
                  <a:srgbClr val="0000FF"/>
                </a:solidFill>
              </a:rPr>
              <a:t>라인장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rgbClr val="0000FF"/>
                </a:solidFill>
              </a:rPr>
              <a:t>조성진 조장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4725319" y="3480390"/>
            <a:ext cx="873032" cy="7770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수불반품팀</a:t>
            </a:r>
            <a:r>
              <a:rPr lang="en-US" altLang="ko-KR" sz="731" b="1" dirty="0">
                <a:solidFill>
                  <a:schemeClr val="tx1"/>
                </a:solidFill>
              </a:rPr>
              <a:t>(1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정수현 팀장</a:t>
            </a:r>
            <a:endParaRPr lang="en-US" altLang="ko-KR" sz="731" b="1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093362" y="3463088"/>
            <a:ext cx="931772" cy="78522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설비관리팀</a:t>
            </a:r>
            <a:r>
              <a:rPr lang="en-US" altLang="ko-KR" sz="731" b="1" dirty="0">
                <a:solidFill>
                  <a:schemeClr val="tx1"/>
                </a:solidFill>
              </a:rPr>
              <a:t>(3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김현수 팀장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chemeClr val="tx1"/>
                </a:solidFill>
              </a:rPr>
              <a:t>이철우 대리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chemeClr val="tx1"/>
                </a:solidFill>
              </a:rPr>
              <a:t>최상훈 조장</a:t>
            </a:r>
            <a:endParaRPr lang="en-US" altLang="ko-KR" sz="731" dirty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65783" y="4653250"/>
            <a:ext cx="5264848" cy="76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975" b="1" dirty="0" err="1"/>
              <a:t>관리감독자</a:t>
            </a:r>
            <a:r>
              <a:rPr lang="ko-KR" altLang="ko-KR" sz="975" b="1" dirty="0"/>
              <a:t> 법적 정의</a:t>
            </a:r>
          </a:p>
          <a:p>
            <a:pPr marL="139307" indent="-139307">
              <a:lnSpc>
                <a:spcPct val="150000"/>
              </a:lnSpc>
              <a:buFontTx/>
              <a:buChar char="-"/>
            </a:pPr>
            <a:r>
              <a:rPr lang="ko-KR" altLang="ko-KR" sz="975" dirty="0"/>
              <a:t>사업장의 생산과 관련되는 업무와 그 소속 직원을 지휘</a:t>
            </a:r>
            <a:r>
              <a:rPr lang="en-US" altLang="ko-KR" sz="975" dirty="0"/>
              <a:t>. </a:t>
            </a:r>
            <a:r>
              <a:rPr lang="ko-KR" altLang="ko-KR" sz="975" dirty="0"/>
              <a:t>감독하는 직위에 있는 사람을 </a:t>
            </a:r>
            <a:endParaRPr lang="en-US" altLang="ko-KR" sz="975" dirty="0"/>
          </a:p>
          <a:p>
            <a:pPr>
              <a:lnSpc>
                <a:spcPct val="150000"/>
              </a:lnSpc>
            </a:pPr>
            <a:r>
              <a:rPr lang="en-US" altLang="ko-KR" sz="975" dirty="0"/>
              <a:t>    </a:t>
            </a:r>
            <a:r>
              <a:rPr lang="ko-KR" altLang="ko-KR" sz="975" dirty="0"/>
              <a:t>선임하여 산업 안전 및 보건에 관한 업무를 수행토록 함</a:t>
            </a:r>
            <a:r>
              <a:rPr lang="en-US" altLang="ko-KR" sz="975" dirty="0"/>
              <a:t> (</a:t>
            </a:r>
            <a:r>
              <a:rPr lang="ko-KR" altLang="ko-KR" sz="975" dirty="0"/>
              <a:t>직장</a:t>
            </a:r>
            <a:r>
              <a:rPr lang="en-US" altLang="ko-KR" sz="975" dirty="0"/>
              <a:t>, </a:t>
            </a:r>
            <a:r>
              <a:rPr lang="ko-KR" altLang="ko-KR" sz="975" dirty="0"/>
              <a:t>조장</a:t>
            </a:r>
            <a:r>
              <a:rPr lang="en-US" altLang="ko-KR" sz="975" dirty="0"/>
              <a:t>, </a:t>
            </a:r>
            <a:r>
              <a:rPr lang="ko-KR" altLang="ko-KR" sz="975" dirty="0"/>
              <a:t>반장</a:t>
            </a:r>
            <a:r>
              <a:rPr lang="en-US" altLang="ko-KR" sz="975" dirty="0"/>
              <a:t>, </a:t>
            </a:r>
            <a:r>
              <a:rPr lang="ko-KR" altLang="ko-KR" sz="975" dirty="0"/>
              <a:t>생산과장 등</a:t>
            </a:r>
            <a:r>
              <a:rPr lang="en-US" altLang="ko-KR" sz="975" dirty="0"/>
              <a:t>)</a:t>
            </a:r>
            <a:endParaRPr lang="ko-KR" altLang="ko-KR" sz="975" dirty="0"/>
          </a:p>
        </p:txBody>
      </p:sp>
      <p:sp>
        <p:nvSpPr>
          <p:cNvPr id="48" name="직사각형 47"/>
          <p:cNvSpPr/>
          <p:nvPr/>
        </p:nvSpPr>
        <p:spPr>
          <a:xfrm>
            <a:off x="5465783" y="5394301"/>
            <a:ext cx="5571725" cy="767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975" b="1" dirty="0" err="1"/>
              <a:t>관리감독자</a:t>
            </a:r>
            <a:r>
              <a:rPr lang="ko-KR" altLang="ko-KR" sz="975" b="1" dirty="0"/>
              <a:t> </a:t>
            </a:r>
            <a:r>
              <a:rPr lang="ko-KR" altLang="en-US" sz="975" b="1" dirty="0"/>
              <a:t>선임 기준</a:t>
            </a:r>
            <a:endParaRPr lang="en-US" altLang="ko-KR" sz="975" b="1" dirty="0"/>
          </a:p>
          <a:p>
            <a:pPr marL="185741" indent="-185741">
              <a:lnSpc>
                <a:spcPct val="150000"/>
              </a:lnSpc>
              <a:buAutoNum type="arabicPeriod"/>
            </a:pPr>
            <a:r>
              <a:rPr lang="ko-KR" altLang="en-US" sz="975" dirty="0" err="1"/>
              <a:t>상시근로자</a:t>
            </a:r>
            <a:r>
              <a:rPr lang="ko-KR" altLang="en-US" sz="975" dirty="0"/>
              <a:t> </a:t>
            </a:r>
            <a:r>
              <a:rPr lang="en-US" altLang="ko-KR" sz="975" dirty="0"/>
              <a:t>5</a:t>
            </a:r>
            <a:r>
              <a:rPr lang="ko-KR" altLang="en-US" sz="975" dirty="0"/>
              <a:t>인 이상 사업장에 현장에서 직접 소속직원을 지휘</a:t>
            </a:r>
            <a:r>
              <a:rPr lang="en-US" altLang="ko-KR" sz="975" dirty="0"/>
              <a:t>, </a:t>
            </a:r>
            <a:r>
              <a:rPr lang="ko-KR" altLang="en-US" sz="975" dirty="0"/>
              <a:t>감독하는 위치에 있는 근로자</a:t>
            </a:r>
            <a:endParaRPr lang="en-US" altLang="ko-KR" sz="975" dirty="0"/>
          </a:p>
          <a:p>
            <a:pPr marL="185741" indent="-185741">
              <a:lnSpc>
                <a:spcPct val="150000"/>
              </a:lnSpc>
              <a:buAutoNum type="arabicPeriod"/>
            </a:pPr>
            <a:r>
              <a:rPr lang="ko-KR" altLang="en-US" sz="975" dirty="0"/>
              <a:t>사업주로부터 관리감독자로 임명 받은 근로자</a:t>
            </a:r>
            <a:endParaRPr lang="en-US" altLang="ko-KR" sz="975" dirty="0"/>
          </a:p>
        </p:txBody>
      </p:sp>
      <p:sp>
        <p:nvSpPr>
          <p:cNvPr id="41" name="직사각형 40"/>
          <p:cNvSpPr/>
          <p:nvPr/>
        </p:nvSpPr>
        <p:spPr>
          <a:xfrm>
            <a:off x="5037792" y="3228840"/>
            <a:ext cx="855981" cy="1951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31" dirty="0" err="1">
                <a:solidFill>
                  <a:schemeClr val="tx1"/>
                </a:solidFill>
              </a:rPr>
              <a:t>강응구</a:t>
            </a:r>
            <a:r>
              <a:rPr lang="ko-KR" altLang="en-US" sz="731" dirty="0">
                <a:solidFill>
                  <a:schemeClr val="tx1"/>
                </a:solidFill>
              </a:rPr>
              <a:t> 부서장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2733912" y="3223770"/>
            <a:ext cx="855981" cy="1951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31" dirty="0" err="1">
                <a:solidFill>
                  <a:schemeClr val="tx1"/>
                </a:solidFill>
              </a:rPr>
              <a:t>남관</a:t>
            </a:r>
            <a:r>
              <a:rPr lang="ko-KR" altLang="en-US" sz="731" dirty="0">
                <a:solidFill>
                  <a:schemeClr val="tx1"/>
                </a:solidFill>
              </a:rPr>
              <a:t> 부서장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090177" y="3463088"/>
            <a:ext cx="3717263" cy="13493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322" tIns="37161" rIns="74322" bIns="37161" rtlCol="0" anchor="t"/>
          <a:lstStyle/>
          <a:p>
            <a:pPr algn="ctr">
              <a:spcAft>
                <a:spcPts val="269"/>
              </a:spcAft>
            </a:pPr>
            <a:r>
              <a:rPr lang="ko-KR" altLang="en-US" sz="813" b="1" dirty="0">
                <a:solidFill>
                  <a:schemeClr val="tx1"/>
                </a:solidFill>
                <a:ea typeface="맑은 고딕"/>
              </a:rPr>
              <a:t>안전관리팀 구성 </a:t>
            </a:r>
            <a:r>
              <a:rPr lang="en-US" altLang="ko-KR" sz="813" b="1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813" b="1" dirty="0">
                <a:solidFill>
                  <a:schemeClr val="tx1"/>
                </a:solidFill>
                <a:ea typeface="맑은 고딕"/>
              </a:rPr>
              <a:t>총 </a:t>
            </a:r>
            <a:r>
              <a:rPr lang="en-US" altLang="ko-KR" sz="813" b="1" dirty="0">
                <a:solidFill>
                  <a:schemeClr val="tx1"/>
                </a:solidFill>
                <a:ea typeface="맑은 고딕"/>
              </a:rPr>
              <a:t>14</a:t>
            </a:r>
            <a:r>
              <a:rPr lang="ko-KR" altLang="en-US" sz="813" b="1" dirty="0">
                <a:solidFill>
                  <a:schemeClr val="tx1"/>
                </a:solidFill>
                <a:ea typeface="맑은 고딕"/>
              </a:rPr>
              <a:t>명</a:t>
            </a:r>
            <a:r>
              <a:rPr lang="en-US" altLang="ko-KR" sz="813" b="1" dirty="0">
                <a:solidFill>
                  <a:schemeClr val="tx1"/>
                </a:solidFill>
                <a:ea typeface="맑은 고딕"/>
              </a:rPr>
              <a:t>)</a:t>
            </a:r>
          </a:p>
          <a:p>
            <a:pPr algn="ctr">
              <a:spcAft>
                <a:spcPts val="269"/>
              </a:spcAft>
            </a:pPr>
            <a:endParaRPr lang="en-US" altLang="ko-KR" sz="836" b="1" dirty="0">
              <a:solidFill>
                <a:schemeClr val="tx1"/>
              </a:solidFill>
            </a:endParaRPr>
          </a:p>
          <a:p>
            <a:pPr>
              <a:spcAft>
                <a:spcPts val="269"/>
              </a:spcAft>
            </a:pPr>
            <a:r>
              <a:rPr lang="en-US" altLang="ko-KR" sz="807" dirty="0">
                <a:solidFill>
                  <a:schemeClr val="tx1"/>
                </a:solidFill>
              </a:rPr>
              <a:t>- </a:t>
            </a:r>
            <a:r>
              <a:rPr lang="ko-KR" altLang="en-US" sz="807" dirty="0">
                <a:solidFill>
                  <a:schemeClr val="tx1"/>
                </a:solidFill>
              </a:rPr>
              <a:t>팀장 </a:t>
            </a:r>
            <a:r>
              <a:rPr lang="en-US" altLang="ko-KR" sz="807" dirty="0">
                <a:solidFill>
                  <a:schemeClr val="tx1"/>
                </a:solidFill>
              </a:rPr>
              <a:t>: </a:t>
            </a:r>
            <a:r>
              <a:rPr lang="ko-KR" altLang="en-US" sz="807" dirty="0" err="1">
                <a:solidFill>
                  <a:schemeClr val="tx1"/>
                </a:solidFill>
              </a:rPr>
              <a:t>서우성</a:t>
            </a:r>
            <a:r>
              <a:rPr lang="ko-KR" altLang="en-US" sz="807" dirty="0">
                <a:solidFill>
                  <a:schemeClr val="tx1"/>
                </a:solidFill>
              </a:rPr>
              <a:t> 과장</a:t>
            </a:r>
            <a:endParaRPr lang="en-US" altLang="ko-KR" sz="807" dirty="0">
              <a:solidFill>
                <a:schemeClr val="tx1"/>
              </a:solidFill>
            </a:endParaRPr>
          </a:p>
          <a:p>
            <a:pPr>
              <a:spcAft>
                <a:spcPts val="269"/>
              </a:spcAft>
            </a:pPr>
            <a:r>
              <a:rPr lang="en-US" altLang="ko-KR" sz="807" dirty="0">
                <a:solidFill>
                  <a:schemeClr val="tx1"/>
                </a:solidFill>
              </a:rPr>
              <a:t>- </a:t>
            </a:r>
            <a:r>
              <a:rPr lang="ko-KR" altLang="en-US" sz="807" dirty="0">
                <a:solidFill>
                  <a:schemeClr val="tx1"/>
                </a:solidFill>
              </a:rPr>
              <a:t>안전 </a:t>
            </a:r>
            <a:r>
              <a:rPr lang="en-US" altLang="ko-KR" sz="807" dirty="0">
                <a:solidFill>
                  <a:schemeClr val="tx1"/>
                </a:solidFill>
              </a:rPr>
              <a:t>: </a:t>
            </a:r>
            <a:r>
              <a:rPr lang="ko-KR" altLang="en-US" sz="807" dirty="0">
                <a:solidFill>
                  <a:schemeClr val="tx1"/>
                </a:solidFill>
              </a:rPr>
              <a:t>함석현 대리</a:t>
            </a:r>
            <a:endParaRPr lang="en-US" altLang="ko-KR" sz="807" dirty="0">
              <a:solidFill>
                <a:schemeClr val="tx1"/>
              </a:solidFill>
            </a:endParaRPr>
          </a:p>
          <a:p>
            <a:pPr>
              <a:spcAft>
                <a:spcPts val="269"/>
              </a:spcAft>
            </a:pPr>
            <a:r>
              <a:rPr lang="en-US" altLang="ko-KR" sz="772" dirty="0">
                <a:solidFill>
                  <a:schemeClr val="tx1"/>
                </a:solidFill>
                <a:ea typeface="맑은 고딕"/>
              </a:rPr>
              <a:t>- </a:t>
            </a:r>
            <a:r>
              <a:rPr lang="ko-KR" altLang="en-US" sz="772" dirty="0">
                <a:solidFill>
                  <a:schemeClr val="tx1"/>
                </a:solidFill>
                <a:ea typeface="맑은 고딕"/>
              </a:rPr>
              <a:t>보건 </a:t>
            </a:r>
            <a:r>
              <a:rPr lang="en-US" altLang="ko-KR" sz="772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772" dirty="0">
                <a:solidFill>
                  <a:schemeClr val="tx1"/>
                </a:solidFill>
                <a:ea typeface="맑은 고딕"/>
              </a:rPr>
              <a:t>이창현 주임</a:t>
            </a:r>
            <a:r>
              <a:rPr lang="en-US" altLang="ko-KR" sz="772" dirty="0">
                <a:solidFill>
                  <a:schemeClr val="tx1"/>
                </a:solidFill>
                <a:ea typeface="맑은 고딕"/>
              </a:rPr>
              <a:t>, </a:t>
            </a:r>
            <a:r>
              <a:rPr lang="ko-KR" altLang="en-US" sz="772" dirty="0">
                <a:solidFill>
                  <a:schemeClr val="tx1"/>
                </a:solidFill>
                <a:ea typeface="맑은 고딕"/>
              </a:rPr>
              <a:t>강승지 사원 </a:t>
            </a:r>
            <a:r>
              <a:rPr lang="en-US" altLang="ko-KR" sz="772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72" dirty="0">
                <a:solidFill>
                  <a:schemeClr val="tx1"/>
                </a:solidFill>
                <a:ea typeface="맑은 고딕"/>
              </a:rPr>
              <a:t>주간</a:t>
            </a:r>
            <a:r>
              <a:rPr lang="en-US" altLang="ko-KR" sz="772" dirty="0">
                <a:solidFill>
                  <a:schemeClr val="tx1"/>
                </a:solidFill>
                <a:ea typeface="맑은 고딕"/>
              </a:rPr>
              <a:t>), </a:t>
            </a:r>
            <a:r>
              <a:rPr lang="ko-KR" altLang="en-US" sz="772" dirty="0">
                <a:solidFill>
                  <a:schemeClr val="tx1"/>
                </a:solidFill>
                <a:ea typeface="맑은 고딕"/>
              </a:rPr>
              <a:t>정민주 사원 </a:t>
            </a:r>
            <a:r>
              <a:rPr lang="en-US" altLang="ko-KR" sz="772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72" dirty="0">
                <a:solidFill>
                  <a:schemeClr val="tx1"/>
                </a:solidFill>
                <a:ea typeface="맑은 고딕"/>
              </a:rPr>
              <a:t>야간</a:t>
            </a:r>
            <a:r>
              <a:rPr lang="en-US" altLang="ko-KR" sz="772" dirty="0">
                <a:solidFill>
                  <a:schemeClr val="tx1"/>
                </a:solidFill>
                <a:ea typeface="맑은 고딕"/>
              </a:rPr>
              <a:t>)</a:t>
            </a:r>
          </a:p>
          <a:p>
            <a:pPr>
              <a:spcAft>
                <a:spcPts val="269"/>
              </a:spcAft>
            </a:pPr>
            <a:r>
              <a:rPr lang="en-US" altLang="ko-KR" sz="807" dirty="0">
                <a:solidFill>
                  <a:schemeClr val="tx1"/>
                </a:solidFill>
              </a:rPr>
              <a:t>- </a:t>
            </a:r>
            <a:r>
              <a:rPr lang="ko-KR" altLang="en-US" sz="807" dirty="0">
                <a:solidFill>
                  <a:schemeClr val="tx1"/>
                </a:solidFill>
              </a:rPr>
              <a:t>순찰 </a:t>
            </a:r>
            <a:r>
              <a:rPr lang="en-US" altLang="ko-KR" sz="807" dirty="0">
                <a:solidFill>
                  <a:schemeClr val="tx1"/>
                </a:solidFill>
              </a:rPr>
              <a:t>: </a:t>
            </a:r>
            <a:r>
              <a:rPr lang="ko-KR" altLang="en-US" sz="807" dirty="0" err="1">
                <a:solidFill>
                  <a:schemeClr val="tx1"/>
                </a:solidFill>
              </a:rPr>
              <a:t>김향기</a:t>
            </a:r>
            <a:r>
              <a:rPr lang="ko-KR" altLang="en-US" sz="807" dirty="0">
                <a:solidFill>
                  <a:schemeClr val="tx1"/>
                </a:solidFill>
              </a:rPr>
              <a:t> 조장</a:t>
            </a:r>
            <a:r>
              <a:rPr lang="en-US" altLang="ko-KR" sz="807" dirty="0">
                <a:solidFill>
                  <a:schemeClr val="tx1"/>
                </a:solidFill>
              </a:rPr>
              <a:t>, </a:t>
            </a:r>
            <a:r>
              <a:rPr lang="ko-KR" altLang="en-US" sz="807" dirty="0">
                <a:solidFill>
                  <a:schemeClr val="tx1"/>
                </a:solidFill>
              </a:rPr>
              <a:t>정민규 </a:t>
            </a:r>
            <a:r>
              <a:rPr lang="ko-KR" altLang="en-US" sz="807" dirty="0" err="1">
                <a:solidFill>
                  <a:schemeClr val="tx1"/>
                </a:solidFill>
              </a:rPr>
              <a:t>부조장</a:t>
            </a:r>
            <a:r>
              <a:rPr lang="en-US" altLang="ko-KR" sz="807" dirty="0">
                <a:solidFill>
                  <a:schemeClr val="tx1"/>
                </a:solidFill>
              </a:rPr>
              <a:t>, </a:t>
            </a:r>
            <a:r>
              <a:rPr lang="ko-KR" altLang="en-US" sz="807" dirty="0">
                <a:solidFill>
                  <a:schemeClr val="tx1"/>
                </a:solidFill>
              </a:rPr>
              <a:t>장원재</a:t>
            </a:r>
            <a:r>
              <a:rPr lang="en-US" altLang="ko-KR" sz="807" dirty="0">
                <a:solidFill>
                  <a:schemeClr val="tx1"/>
                </a:solidFill>
              </a:rPr>
              <a:t>·</a:t>
            </a:r>
            <a:r>
              <a:rPr lang="ko-KR" altLang="en-US" sz="807" dirty="0" err="1">
                <a:solidFill>
                  <a:schemeClr val="tx1"/>
                </a:solidFill>
              </a:rPr>
              <a:t>배진웅</a:t>
            </a:r>
            <a:r>
              <a:rPr lang="en-US" altLang="ko-KR" sz="807" dirty="0">
                <a:solidFill>
                  <a:schemeClr val="tx1"/>
                </a:solidFill>
              </a:rPr>
              <a:t>·</a:t>
            </a:r>
            <a:r>
              <a:rPr lang="ko-KR" altLang="en-US" sz="807" dirty="0">
                <a:solidFill>
                  <a:schemeClr val="tx1"/>
                </a:solidFill>
              </a:rPr>
              <a:t>박기영</a:t>
            </a:r>
            <a:r>
              <a:rPr lang="en-US" altLang="ko-KR" sz="807" dirty="0">
                <a:solidFill>
                  <a:schemeClr val="tx1"/>
                </a:solidFill>
              </a:rPr>
              <a:t>·</a:t>
            </a:r>
            <a:r>
              <a:rPr lang="ko-KR" altLang="en-US" sz="807" dirty="0">
                <a:solidFill>
                  <a:schemeClr val="tx1"/>
                </a:solidFill>
              </a:rPr>
              <a:t>진준영 사원 </a:t>
            </a:r>
            <a:r>
              <a:rPr lang="en-US" altLang="ko-KR" sz="807" dirty="0">
                <a:solidFill>
                  <a:schemeClr val="tx1"/>
                </a:solidFill>
              </a:rPr>
              <a:t>(</a:t>
            </a:r>
            <a:r>
              <a:rPr lang="ko-KR" altLang="en-US" sz="807" dirty="0">
                <a:solidFill>
                  <a:schemeClr val="tx1"/>
                </a:solidFill>
              </a:rPr>
              <a:t>주간)</a:t>
            </a:r>
            <a:endParaRPr lang="en-US" altLang="ko-KR" sz="807" dirty="0">
              <a:solidFill>
                <a:schemeClr val="tx1"/>
              </a:solidFill>
            </a:endParaRPr>
          </a:p>
          <a:p>
            <a:pPr>
              <a:spcAft>
                <a:spcPts val="269"/>
              </a:spcAft>
            </a:pPr>
            <a:r>
              <a:rPr lang="ko-KR" altLang="en-US" sz="807" dirty="0">
                <a:solidFill>
                  <a:schemeClr val="tx1"/>
                </a:solidFill>
              </a:rPr>
              <a:t>           조재민 </a:t>
            </a:r>
            <a:r>
              <a:rPr lang="ko-KR" altLang="en-US" sz="807" dirty="0" err="1">
                <a:solidFill>
                  <a:schemeClr val="tx1"/>
                </a:solidFill>
              </a:rPr>
              <a:t>부조장</a:t>
            </a:r>
            <a:r>
              <a:rPr lang="en-US" altLang="ko-KR" sz="807" dirty="0">
                <a:solidFill>
                  <a:schemeClr val="tx1"/>
                </a:solidFill>
              </a:rPr>
              <a:t>, </a:t>
            </a:r>
            <a:r>
              <a:rPr lang="ko-KR" altLang="en-US" sz="807" dirty="0" err="1">
                <a:solidFill>
                  <a:schemeClr val="tx1"/>
                </a:solidFill>
              </a:rPr>
              <a:t>허진혁</a:t>
            </a:r>
            <a:r>
              <a:rPr lang="en-US" altLang="ko-KR" sz="807" dirty="0">
                <a:solidFill>
                  <a:schemeClr val="tx1"/>
                </a:solidFill>
              </a:rPr>
              <a:t>·</a:t>
            </a:r>
            <a:r>
              <a:rPr lang="ko-KR" altLang="en-US" sz="807" dirty="0">
                <a:solidFill>
                  <a:schemeClr val="tx1"/>
                </a:solidFill>
              </a:rPr>
              <a:t>박경민 사원 </a:t>
            </a:r>
            <a:r>
              <a:rPr lang="en-US" altLang="ko-KR" sz="807" dirty="0">
                <a:solidFill>
                  <a:schemeClr val="tx1"/>
                </a:solidFill>
              </a:rPr>
              <a:t>(</a:t>
            </a:r>
            <a:r>
              <a:rPr lang="ko-KR" altLang="en-US" sz="807" dirty="0">
                <a:solidFill>
                  <a:schemeClr val="tx1"/>
                </a:solidFill>
              </a:rPr>
              <a:t>야간</a:t>
            </a:r>
            <a:r>
              <a:rPr lang="en-US" altLang="ko-KR" sz="807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69"/>
              </a:spcAft>
            </a:pPr>
            <a:r>
              <a:rPr lang="en-US" altLang="ko-KR" sz="807" b="1" dirty="0">
                <a:solidFill>
                  <a:schemeClr val="tx1"/>
                </a:solidFill>
                <a:ea typeface="맑은 고딕"/>
              </a:rPr>
              <a:t>             </a:t>
            </a:r>
            <a:r>
              <a:rPr lang="en-US" altLang="ko-KR" sz="772" b="1" dirty="0">
                <a:solidFill>
                  <a:srgbClr val="0000CC"/>
                </a:solidFill>
                <a:ea typeface="맑은 고딕"/>
              </a:rPr>
              <a:t>* </a:t>
            </a:r>
            <a:r>
              <a:rPr lang="ko-KR" altLang="en-US" sz="772" b="1" dirty="0">
                <a:solidFill>
                  <a:srgbClr val="0000CC"/>
                </a:solidFill>
                <a:ea typeface="맑은 고딕"/>
              </a:rPr>
              <a:t>관리감독자 </a:t>
            </a:r>
            <a:r>
              <a:rPr lang="en-US" altLang="ko-KR" sz="772" b="1" dirty="0">
                <a:solidFill>
                  <a:srgbClr val="0000CC"/>
                </a:solidFill>
                <a:ea typeface="맑은 고딕"/>
              </a:rPr>
              <a:t>(2</a:t>
            </a:r>
            <a:r>
              <a:rPr lang="ko-KR" altLang="en-US" sz="772" b="1" dirty="0">
                <a:solidFill>
                  <a:srgbClr val="0000CC"/>
                </a:solidFill>
                <a:ea typeface="맑은 고딕"/>
              </a:rPr>
              <a:t>명</a:t>
            </a:r>
            <a:r>
              <a:rPr lang="en-US" altLang="ko-KR" sz="772" b="1" dirty="0">
                <a:solidFill>
                  <a:srgbClr val="0000CC"/>
                </a:solidFill>
                <a:ea typeface="맑은 고딕"/>
              </a:rPr>
              <a:t>)</a:t>
            </a:r>
            <a:r>
              <a:rPr lang="ko-KR" altLang="en-US" sz="772" b="1" dirty="0">
                <a:solidFill>
                  <a:srgbClr val="0000CC"/>
                </a:solidFill>
                <a:ea typeface="맑은 고딕"/>
              </a:rPr>
              <a:t> </a:t>
            </a:r>
            <a:r>
              <a:rPr lang="en-US" altLang="ko-KR" sz="772" b="1" dirty="0">
                <a:solidFill>
                  <a:srgbClr val="0000CC"/>
                </a:solidFill>
                <a:ea typeface="맑은 고딕"/>
              </a:rPr>
              <a:t>: </a:t>
            </a:r>
            <a:r>
              <a:rPr lang="ko-KR" altLang="en-US" sz="772" b="1" dirty="0" err="1">
                <a:solidFill>
                  <a:srgbClr val="0000CC"/>
                </a:solidFill>
                <a:ea typeface="맑은 고딕"/>
              </a:rPr>
              <a:t>김향기</a:t>
            </a:r>
            <a:r>
              <a:rPr lang="ko-KR" altLang="en-US" sz="772" b="1" dirty="0">
                <a:solidFill>
                  <a:srgbClr val="0000CC"/>
                </a:solidFill>
                <a:ea typeface="맑은 고딕"/>
              </a:rPr>
              <a:t> 조장</a:t>
            </a:r>
            <a:r>
              <a:rPr lang="en-US" altLang="ko-KR" sz="772" b="1" dirty="0">
                <a:solidFill>
                  <a:srgbClr val="0000CC"/>
                </a:solidFill>
                <a:ea typeface="맑은 고딕"/>
              </a:rPr>
              <a:t>, </a:t>
            </a:r>
            <a:r>
              <a:rPr lang="ko-KR" altLang="en-US" sz="772" b="1" dirty="0">
                <a:solidFill>
                  <a:srgbClr val="0000CC"/>
                </a:solidFill>
                <a:ea typeface="맑은 고딕"/>
              </a:rPr>
              <a:t>조재민 </a:t>
            </a:r>
            <a:r>
              <a:rPr lang="ko-KR" altLang="en-US" sz="772" b="1" dirty="0" err="1">
                <a:solidFill>
                  <a:srgbClr val="0000CC"/>
                </a:solidFill>
                <a:ea typeface="맑은 고딕"/>
              </a:rPr>
              <a:t>부조장</a:t>
            </a:r>
            <a:endParaRPr lang="en-US" altLang="ko-KR" sz="772" b="1" dirty="0" err="1">
              <a:solidFill>
                <a:srgbClr val="0000CC"/>
              </a:solidFill>
              <a:ea typeface="맑은 고딕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595666" y="1875955"/>
            <a:ext cx="1388367" cy="33483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925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975" b="1" dirty="0">
                <a:solidFill>
                  <a:schemeClr val="tx1"/>
                </a:solidFill>
              </a:rPr>
              <a:t>물류관리부문</a:t>
            </a:r>
            <a:endParaRPr lang="en-US" altLang="ko-KR" sz="975" b="1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7750394" y="2351709"/>
            <a:ext cx="1078090" cy="5489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물류시설관리부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부산시설관리팀</a:t>
            </a:r>
            <a:r>
              <a:rPr lang="en-US" altLang="ko-KR" sz="731" b="1" dirty="0">
                <a:solidFill>
                  <a:schemeClr val="tx1"/>
                </a:solidFill>
              </a:rPr>
              <a:t>(1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구국본</a:t>
            </a:r>
            <a:r>
              <a:rPr lang="ko-KR" altLang="en-US" sz="731" b="1" dirty="0">
                <a:solidFill>
                  <a:schemeClr val="tx1"/>
                </a:solidFill>
              </a:rPr>
              <a:t> 팀장</a:t>
            </a:r>
            <a:endParaRPr lang="en-US" altLang="ko-KR" sz="731" b="1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388988" y="5220690"/>
            <a:ext cx="922069" cy="9155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244"/>
              </a:spcAft>
            </a:pPr>
            <a:r>
              <a:rPr lang="ko-KR" altLang="en-US" sz="731" b="1" dirty="0">
                <a:solidFill>
                  <a:schemeClr val="tx1"/>
                </a:solidFill>
              </a:rPr>
              <a:t>배송방면분류팀</a:t>
            </a:r>
            <a:r>
              <a:rPr lang="en-US" altLang="ko-KR" sz="731" b="1" dirty="0">
                <a:solidFill>
                  <a:schemeClr val="tx1"/>
                </a:solidFill>
              </a:rPr>
              <a:t>(5</a:t>
            </a:r>
            <a:r>
              <a:rPr lang="ko-KR" altLang="en-US" sz="731" b="1" dirty="0">
                <a:solidFill>
                  <a:schemeClr val="tx1"/>
                </a:solidFill>
              </a:rPr>
              <a:t>명</a:t>
            </a:r>
            <a:r>
              <a:rPr lang="en-US" altLang="ko-KR" sz="731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b="1" dirty="0" err="1">
                <a:solidFill>
                  <a:schemeClr val="tx1"/>
                </a:solidFill>
              </a:rPr>
              <a:t>강웅진</a:t>
            </a:r>
            <a:r>
              <a:rPr lang="ko-KR" altLang="en-US" sz="731" b="1" dirty="0">
                <a:solidFill>
                  <a:schemeClr val="tx1"/>
                </a:solidFill>
              </a:rPr>
              <a:t> 팀장</a:t>
            </a:r>
            <a:endParaRPr lang="en-US" altLang="ko-KR" sz="731" b="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chemeClr val="tx1"/>
                </a:solidFill>
              </a:rPr>
              <a:t>임준혁 </a:t>
            </a:r>
            <a:r>
              <a:rPr lang="ko-KR" altLang="en-US" sz="731" dirty="0" err="1">
                <a:solidFill>
                  <a:schemeClr val="tx1"/>
                </a:solidFill>
              </a:rPr>
              <a:t>라인장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chemeClr val="tx1"/>
                </a:solidFill>
              </a:rPr>
              <a:t>손두현</a:t>
            </a:r>
            <a:r>
              <a:rPr lang="ko-KR" altLang="en-US" sz="731" dirty="0">
                <a:solidFill>
                  <a:schemeClr val="tx1"/>
                </a:solidFill>
              </a:rPr>
              <a:t> 조장</a:t>
            </a:r>
            <a:endParaRPr lang="en-US" altLang="ko-KR" sz="731" dirty="0">
              <a:solidFill>
                <a:schemeClr val="tx1"/>
              </a:solidFill>
            </a:endParaRPr>
          </a:p>
          <a:p>
            <a:pPr>
              <a:spcAft>
                <a:spcPts val="244"/>
              </a:spcAft>
            </a:pPr>
            <a:r>
              <a:rPr lang="ko-KR" altLang="en-US" sz="731" dirty="0" err="1">
                <a:solidFill>
                  <a:srgbClr val="0000FF"/>
                </a:solidFill>
              </a:rPr>
              <a:t>안석주</a:t>
            </a:r>
            <a:r>
              <a:rPr lang="ko-KR" altLang="en-US" sz="731" dirty="0">
                <a:solidFill>
                  <a:srgbClr val="0000FF"/>
                </a:solidFill>
              </a:rPr>
              <a:t> </a:t>
            </a:r>
            <a:r>
              <a:rPr lang="ko-KR" altLang="en-US" sz="731" dirty="0" err="1">
                <a:solidFill>
                  <a:srgbClr val="0000FF"/>
                </a:solidFill>
              </a:rPr>
              <a:t>라인장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244"/>
              </a:spcAft>
            </a:pPr>
            <a:r>
              <a:rPr lang="ko-KR" altLang="en-US" sz="731" dirty="0">
                <a:solidFill>
                  <a:srgbClr val="0000FF"/>
                </a:solidFill>
              </a:rPr>
              <a:t>장재호 조장</a:t>
            </a:r>
            <a:r>
              <a:rPr lang="en-US" altLang="ko-KR" sz="731" dirty="0">
                <a:solidFill>
                  <a:srgbClr val="0000FF"/>
                </a:solidFill>
              </a:rPr>
              <a:t>(</a:t>
            </a:r>
            <a:r>
              <a:rPr lang="ko-KR" altLang="en-US" sz="731" dirty="0">
                <a:solidFill>
                  <a:srgbClr val="0000FF"/>
                </a:solidFill>
              </a:rPr>
              <a:t>야</a:t>
            </a:r>
            <a:r>
              <a:rPr lang="en-US" altLang="ko-KR" sz="73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30" name="TextBox 9"/>
          <p:cNvSpPr txBox="1"/>
          <p:nvPr/>
        </p:nvSpPr>
        <p:spPr>
          <a:xfrm>
            <a:off x="3522861" y="238504"/>
            <a:ext cx="5144692" cy="36008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부산허브센터 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안전보건 조직도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25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꺾인 연결선 78"/>
          <p:cNvCxnSpPr/>
          <p:nvPr/>
        </p:nvCxnSpPr>
        <p:spPr>
          <a:xfrm rot="16200000" flipV="1">
            <a:off x="7113796" y="1680290"/>
            <a:ext cx="1106296" cy="3878234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/>
          <p:nvPr/>
        </p:nvCxnSpPr>
        <p:spPr>
          <a:xfrm rot="5400000">
            <a:off x="6453121" y="3279268"/>
            <a:ext cx="426016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/>
          <p:nvPr/>
        </p:nvCxnSpPr>
        <p:spPr>
          <a:xfrm flipV="1">
            <a:off x="2476683" y="2142981"/>
            <a:ext cx="3041552" cy="924806"/>
          </a:xfrm>
          <a:prstGeom prst="bentConnector3">
            <a:avLst>
              <a:gd name="adj1" fmla="val 107188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01306" y="162075"/>
            <a:ext cx="6453042" cy="40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+mn-ea"/>
              </a:rPr>
              <a:t>다이소 부산허브센터 안전보건관리 조직도</a:t>
            </a:r>
            <a:r>
              <a:rPr lang="en-US" altLang="ko-KR" b="1" dirty="0">
                <a:latin typeface="+mn-ea"/>
              </a:rPr>
              <a:t>(2026</a:t>
            </a:r>
            <a:r>
              <a:rPr lang="ko-KR" altLang="en-US" b="1" dirty="0">
                <a:latin typeface="+mn-ea"/>
              </a:rPr>
              <a:t>년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96559" y="1702227"/>
            <a:ext cx="2012186" cy="40842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5987" rtlCol="0" anchor="t"/>
          <a:lstStyle/>
          <a:p>
            <a:pPr algn="ctr"/>
            <a:r>
              <a:rPr lang="ko-KR" altLang="en-US" sz="1300" b="1" dirty="0">
                <a:solidFill>
                  <a:sysClr val="windowText" lastClr="000000"/>
                </a:solidFill>
              </a:rPr>
              <a:t>안전보건협의회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344397" y="1990156"/>
            <a:ext cx="1367657" cy="24012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산업안전보건위원회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871512" y="838444"/>
            <a:ext cx="1712631" cy="4084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5987" rtlCol="0" anchor="t"/>
          <a:lstStyle/>
          <a:p>
            <a:pPr algn="ctr"/>
            <a:r>
              <a:rPr lang="ko-KR" altLang="en-US" sz="1400" b="1" dirty="0">
                <a:solidFill>
                  <a:sysClr val="windowText" lastClr="000000"/>
                </a:solidFill>
              </a:rPr>
              <a:t>안전보건관리책임자</a:t>
            </a:r>
          </a:p>
        </p:txBody>
      </p:sp>
      <p:cxnSp>
        <p:nvCxnSpPr>
          <p:cNvPr id="31" name="꺾인 연결선 30"/>
          <p:cNvCxnSpPr/>
          <p:nvPr/>
        </p:nvCxnSpPr>
        <p:spPr>
          <a:xfrm flipV="1">
            <a:off x="2708745" y="1216122"/>
            <a:ext cx="3019398" cy="701504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304899" y="3482018"/>
            <a:ext cx="1134577" cy="9660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입고팀</a:t>
            </a:r>
            <a:r>
              <a:rPr lang="en-US" altLang="ko-KR" sz="900" b="1" dirty="0">
                <a:solidFill>
                  <a:schemeClr val="tx1"/>
                </a:solidFill>
              </a:rPr>
              <a:t>(4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홍정완</a:t>
            </a:r>
            <a:r>
              <a:rPr lang="ko-KR" altLang="en-US" sz="900" b="1" dirty="0">
                <a:solidFill>
                  <a:schemeClr val="tx1"/>
                </a:solidFill>
              </a:rPr>
              <a:t> 팀장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chemeClr val="tx1"/>
                </a:solidFill>
              </a:rPr>
              <a:t>백재훈</a:t>
            </a:r>
            <a:r>
              <a:rPr lang="ko-KR" altLang="en-US" sz="900" dirty="0">
                <a:solidFill>
                  <a:schemeClr val="tx1"/>
                </a:solidFill>
              </a:rPr>
              <a:t> 직장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chemeClr val="tx1"/>
                </a:solidFill>
              </a:rPr>
              <a:t>이태경 조장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rgbClr val="0000FF"/>
                </a:solidFill>
              </a:rPr>
              <a:t>김승진 </a:t>
            </a:r>
            <a:r>
              <a:rPr lang="ko-KR" altLang="en-US" sz="900" dirty="0" err="1">
                <a:solidFill>
                  <a:srgbClr val="0000FF"/>
                </a:solidFill>
              </a:rPr>
              <a:t>부조장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5438452" y="1132727"/>
            <a:ext cx="1152669" cy="24012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이경상 이사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4882979" y="1618225"/>
            <a:ext cx="1708142" cy="56870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5987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부산허브센터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80755" y="2781956"/>
            <a:ext cx="1708142" cy="57585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5987" rtlCol="0" anchor="t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물류운영부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관리감독자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52595" y="838444"/>
            <a:ext cx="3239188" cy="5284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36525" indent="-1365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1" u="sng" dirty="0"/>
              <a:t>1</a:t>
            </a:r>
            <a:r>
              <a:rPr lang="ko-KR" altLang="en-US" sz="1050" b="1" u="sng" dirty="0"/>
              <a:t>부문</a:t>
            </a:r>
            <a:r>
              <a:rPr lang="en-US" altLang="ko-KR" sz="1050" b="1" u="sng" dirty="0"/>
              <a:t>, 2</a:t>
            </a:r>
            <a:r>
              <a:rPr lang="ko-KR" altLang="en-US" sz="1050" b="1" u="sng" dirty="0"/>
              <a:t>부서</a:t>
            </a:r>
            <a:r>
              <a:rPr lang="en-US" altLang="ko-KR" sz="1050" b="1" u="sng" dirty="0"/>
              <a:t>, 10</a:t>
            </a:r>
            <a:r>
              <a:rPr lang="ko-KR" altLang="en-US" sz="1050" b="1" u="sng" dirty="0"/>
              <a:t>팀</a:t>
            </a:r>
            <a:endParaRPr lang="en-US" altLang="ko-KR" sz="1050" b="1" u="sng" dirty="0"/>
          </a:p>
          <a:p>
            <a:pPr>
              <a:lnSpc>
                <a:spcPct val="120000"/>
              </a:lnSpc>
            </a:pPr>
            <a:r>
              <a:rPr lang="en-US" altLang="ko-KR" sz="1050" dirty="0">
                <a:ea typeface="맑은 고딕"/>
              </a:rPr>
              <a:t>    - </a:t>
            </a:r>
            <a:r>
              <a:rPr lang="ko-KR" altLang="en-US" sz="1050" dirty="0">
                <a:ea typeface="맑은 고딕"/>
              </a:rPr>
              <a:t>관리감독자 </a:t>
            </a:r>
            <a:r>
              <a:rPr lang="en-US" altLang="ko-KR" sz="1050" dirty="0">
                <a:ea typeface="맑은 고딕"/>
              </a:rPr>
              <a:t>: 38</a:t>
            </a:r>
            <a:r>
              <a:rPr lang="ko-KR" altLang="en-US" sz="1050" dirty="0">
                <a:ea typeface="맑은 고딕"/>
              </a:rPr>
              <a:t>명 </a:t>
            </a:r>
            <a:r>
              <a:rPr lang="en-US" altLang="ko-KR" sz="1050" dirty="0">
                <a:ea typeface="맑은 고딕"/>
              </a:rPr>
              <a:t>(</a:t>
            </a:r>
            <a:r>
              <a:rPr lang="ko-KR" altLang="en-US" sz="1050" dirty="0">
                <a:ea typeface="맑은 고딕"/>
              </a:rPr>
              <a:t>주간</a:t>
            </a:r>
            <a:r>
              <a:rPr lang="en-US" altLang="ko-KR" sz="1050">
                <a:ea typeface="맑은 고딕"/>
              </a:rPr>
              <a:t>: 26</a:t>
            </a:r>
            <a:r>
              <a:rPr lang="ko-KR" altLang="en-US" sz="1050" dirty="0">
                <a:ea typeface="맑은 고딕"/>
              </a:rPr>
              <a:t>명</a:t>
            </a:r>
            <a:r>
              <a:rPr lang="en-US" altLang="ko-KR" sz="1050" dirty="0">
                <a:ea typeface="맑은 고딕"/>
              </a:rPr>
              <a:t>, </a:t>
            </a:r>
            <a:r>
              <a:rPr lang="ko-KR" altLang="en-US" sz="1050" dirty="0">
                <a:ea typeface="맑은 고딕"/>
              </a:rPr>
              <a:t>야간</a:t>
            </a:r>
            <a:r>
              <a:rPr lang="en-US" altLang="ko-KR" sz="1050" dirty="0">
                <a:ea typeface="맑은 고딕"/>
              </a:rPr>
              <a:t>: 12</a:t>
            </a:r>
            <a:r>
              <a:rPr lang="ko-KR" altLang="en-US" sz="1050" dirty="0">
                <a:ea typeface="맑은 고딕"/>
              </a:rPr>
              <a:t>명</a:t>
            </a:r>
            <a:r>
              <a:rPr lang="en-US" altLang="ko-KR" sz="1050" dirty="0">
                <a:ea typeface="맑은 고딕"/>
              </a:rPr>
              <a:t>)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1605905" y="3488865"/>
            <a:ext cx="1109470" cy="11472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보충팀</a:t>
            </a:r>
            <a:r>
              <a:rPr lang="en-US" altLang="ko-KR" sz="900" b="1" dirty="0">
                <a:solidFill>
                  <a:schemeClr val="tx1"/>
                </a:solidFill>
              </a:rPr>
              <a:t>(5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박제봉</a:t>
            </a:r>
            <a:r>
              <a:rPr lang="ko-KR" altLang="en-US" sz="900" b="1" dirty="0">
                <a:solidFill>
                  <a:schemeClr val="tx1"/>
                </a:solidFill>
              </a:rPr>
              <a:t> 팀장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chemeClr val="tx1"/>
                </a:solidFill>
              </a:rPr>
              <a:t>이대현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라인장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smtClean="0">
                <a:solidFill>
                  <a:schemeClr val="tx1"/>
                </a:solidFill>
              </a:rPr>
              <a:t>이재원 </a:t>
            </a:r>
            <a:r>
              <a:rPr lang="ko-KR" altLang="en-US" sz="900" dirty="0">
                <a:solidFill>
                  <a:schemeClr val="tx1"/>
                </a:solidFill>
              </a:rPr>
              <a:t>조장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rgbClr val="0000FF"/>
                </a:solidFill>
              </a:rPr>
              <a:t>이건희 조장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rgbClr val="0000FF"/>
                </a:solidFill>
              </a:rPr>
              <a:t>강종길</a:t>
            </a:r>
            <a:r>
              <a:rPr lang="ko-KR" altLang="en-US" sz="900" dirty="0">
                <a:solidFill>
                  <a:srgbClr val="0000FF"/>
                </a:solidFill>
              </a:rPr>
              <a:t> </a:t>
            </a:r>
            <a:r>
              <a:rPr lang="ko-KR" altLang="en-US" sz="900" dirty="0" err="1">
                <a:solidFill>
                  <a:srgbClr val="0000FF"/>
                </a:solidFill>
              </a:rPr>
              <a:t>부조장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304900" y="4485765"/>
            <a:ext cx="1134577" cy="11009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피킹팀</a:t>
            </a:r>
            <a:r>
              <a:rPr lang="en-US" altLang="ko-KR" sz="900" b="1" dirty="0">
                <a:solidFill>
                  <a:schemeClr val="tx1"/>
                </a:solidFill>
              </a:rPr>
              <a:t>(5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이석원 팀장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chemeClr val="tx1"/>
                </a:solidFill>
                <a:ea typeface="맑은 고딕"/>
              </a:rPr>
              <a:t>김연옥</a:t>
            </a:r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ea typeface="맑은 고딕"/>
              </a:rPr>
              <a:t>라인장</a:t>
            </a:r>
            <a:endParaRPr lang="en-US" altLang="ko-KR" sz="900" dirty="0">
              <a:solidFill>
                <a:schemeClr val="tx1"/>
              </a:solidFill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chemeClr val="tx1"/>
                </a:solidFill>
                <a:ea typeface="맑은 고딕"/>
              </a:rPr>
              <a:t>문성환</a:t>
            </a:r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ea typeface="맑은 고딕"/>
              </a:rPr>
              <a:t>부조장</a:t>
            </a:r>
            <a:endParaRPr lang="ko-KR" altLang="en-US" sz="900" dirty="0">
              <a:solidFill>
                <a:schemeClr val="tx1"/>
              </a:solidFill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rgbClr val="0000FF"/>
                </a:solidFill>
              </a:rPr>
              <a:t>윤관식</a:t>
            </a:r>
            <a:r>
              <a:rPr lang="ko-KR" altLang="en-US" sz="900" dirty="0">
                <a:solidFill>
                  <a:srgbClr val="0000FF"/>
                </a:solidFill>
              </a:rPr>
              <a:t> </a:t>
            </a:r>
            <a:r>
              <a:rPr lang="ko-KR" altLang="en-US" sz="900" dirty="0" err="1">
                <a:solidFill>
                  <a:srgbClr val="0000FF"/>
                </a:solidFill>
              </a:rPr>
              <a:t>라인장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rgbClr val="0000FF"/>
                </a:solidFill>
                <a:ea typeface="맑은 고딕"/>
              </a:rPr>
              <a:t>장해용 </a:t>
            </a:r>
            <a:r>
              <a:rPr lang="ko-KR" altLang="en-US" sz="900" dirty="0" err="1">
                <a:solidFill>
                  <a:srgbClr val="0000FF"/>
                </a:solidFill>
                <a:ea typeface="맑은 고딕"/>
              </a:rPr>
              <a:t>부조장</a:t>
            </a:r>
            <a:r>
              <a:rPr lang="en-US" altLang="ko-KR" sz="900" dirty="0">
                <a:solidFill>
                  <a:srgbClr val="0000FF"/>
                </a:solidFill>
                <a:ea typeface="맑은 고딕"/>
              </a:rPr>
              <a:t>(</a:t>
            </a:r>
            <a:r>
              <a:rPr lang="ko-KR" altLang="en-US" sz="900" dirty="0">
                <a:solidFill>
                  <a:srgbClr val="0000FF"/>
                </a:solidFill>
                <a:ea typeface="맑은 고딕"/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  <a:ea typeface="맑은 고딕"/>
              </a:rPr>
              <a:t>)</a:t>
            </a:r>
            <a:endParaRPr lang="ko-KR" altLang="en-US" sz="900" dirty="0">
              <a:solidFill>
                <a:srgbClr val="0000FF"/>
              </a:solidFill>
              <a:ea typeface="맑은 고딕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600708" y="4708565"/>
            <a:ext cx="1114667" cy="10987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매장분류포장팀</a:t>
            </a:r>
            <a:r>
              <a:rPr lang="en-US" altLang="ko-KR" sz="900" b="1" dirty="0">
                <a:solidFill>
                  <a:schemeClr val="tx1"/>
                </a:solidFill>
              </a:rPr>
              <a:t>(5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김민주 팀장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chemeClr val="tx1"/>
                </a:solidFill>
              </a:rPr>
              <a:t>김진태 </a:t>
            </a:r>
            <a:r>
              <a:rPr lang="ko-KR" altLang="en-US" sz="900" dirty="0" err="1">
                <a:solidFill>
                  <a:schemeClr val="tx1"/>
                </a:solidFill>
              </a:rPr>
              <a:t>라인장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chemeClr val="tx1"/>
                </a:solidFill>
              </a:rPr>
              <a:t>정영민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</a:rPr>
              <a:t>라인장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rgbClr val="0000FF"/>
                </a:solidFill>
              </a:rPr>
              <a:t>김왕태</a:t>
            </a:r>
            <a:r>
              <a:rPr lang="ko-KR" altLang="en-US" sz="900" dirty="0">
                <a:solidFill>
                  <a:srgbClr val="0000FF"/>
                </a:solidFill>
              </a:rPr>
              <a:t> </a:t>
            </a:r>
            <a:r>
              <a:rPr lang="ko-KR" altLang="en-US" sz="900" dirty="0" err="1">
                <a:solidFill>
                  <a:srgbClr val="0000FF"/>
                </a:solidFill>
              </a:rPr>
              <a:t>라인장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rgbClr val="0000FF"/>
                </a:solidFill>
              </a:rPr>
              <a:t>최효상</a:t>
            </a:r>
            <a:r>
              <a:rPr lang="ko-KR" altLang="en-US" sz="900" dirty="0">
                <a:solidFill>
                  <a:srgbClr val="0000FF"/>
                </a:solidFill>
              </a:rPr>
              <a:t> </a:t>
            </a:r>
            <a:r>
              <a:rPr lang="ko-KR" altLang="en-US" sz="900" dirty="0" err="1">
                <a:solidFill>
                  <a:srgbClr val="0000FF"/>
                </a:solidFill>
              </a:rPr>
              <a:t>부조장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  <a:endParaRPr lang="ko-KR" altLang="en-US" sz="900" dirty="0">
              <a:solidFill>
                <a:srgbClr val="0000FF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612669" y="2781956"/>
            <a:ext cx="1708142" cy="57585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5987" rtlCol="0" anchor="t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물류운영지원부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관리감독자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3108796" y="3485192"/>
            <a:ext cx="1127745" cy="11509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배차팀</a:t>
            </a:r>
            <a:r>
              <a:rPr lang="en-US" altLang="ko-KR" sz="900" b="1" dirty="0">
                <a:solidFill>
                  <a:schemeClr val="tx1"/>
                </a:solidFill>
              </a:rPr>
              <a:t>(5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백인국</a:t>
            </a:r>
            <a:r>
              <a:rPr lang="ko-KR" altLang="en-US" sz="900" b="1" dirty="0">
                <a:solidFill>
                  <a:schemeClr val="tx1"/>
                </a:solidFill>
              </a:rPr>
              <a:t> 팀장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chemeClr val="tx1"/>
                </a:solidFill>
              </a:rPr>
              <a:t>조종호</a:t>
            </a:r>
            <a:r>
              <a:rPr lang="ko-KR" altLang="en-US" sz="900" dirty="0">
                <a:solidFill>
                  <a:schemeClr val="tx1"/>
                </a:solidFill>
              </a:rPr>
              <a:t> 조장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chemeClr val="tx1"/>
                </a:solidFill>
              </a:rPr>
              <a:t>정진성 </a:t>
            </a:r>
            <a:r>
              <a:rPr lang="ko-KR" altLang="en-US" sz="900" dirty="0" err="1">
                <a:solidFill>
                  <a:schemeClr val="tx1"/>
                </a:solidFill>
              </a:rPr>
              <a:t>부조장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rgbClr val="0000FF"/>
                </a:solidFill>
              </a:rPr>
              <a:t>양승익</a:t>
            </a:r>
            <a:r>
              <a:rPr lang="ko-KR" altLang="en-US" sz="900" dirty="0">
                <a:solidFill>
                  <a:srgbClr val="0000FF"/>
                </a:solidFill>
              </a:rPr>
              <a:t> </a:t>
            </a:r>
            <a:r>
              <a:rPr lang="ko-KR" altLang="en-US" sz="900" dirty="0" err="1">
                <a:solidFill>
                  <a:srgbClr val="0000FF"/>
                </a:solidFill>
              </a:rPr>
              <a:t>라인장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rgbClr val="0000FF"/>
                </a:solidFill>
              </a:rPr>
              <a:t>조성진 조장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4409800" y="3492042"/>
            <a:ext cx="1074113" cy="9560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수불반품팀</a:t>
            </a:r>
            <a:r>
              <a:rPr lang="en-US" altLang="ko-KR" sz="900" b="1" dirty="0">
                <a:solidFill>
                  <a:schemeClr val="tx1"/>
                </a:solidFill>
              </a:rPr>
              <a:t>(1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정수현 팀장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092938" y="3470755"/>
            <a:ext cx="1146381" cy="96608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설비관리팀</a:t>
            </a:r>
            <a:r>
              <a:rPr lang="en-US" altLang="ko-KR" sz="900" b="1" dirty="0">
                <a:solidFill>
                  <a:schemeClr val="tx1"/>
                </a:solidFill>
              </a:rPr>
              <a:t>(3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김현수 팀장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chemeClr val="tx1"/>
                </a:solidFill>
              </a:rPr>
              <a:t>이철우 대리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chemeClr val="tx1"/>
                </a:solidFill>
              </a:rPr>
              <a:t>최상훈 조장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20811" y="4935042"/>
            <a:ext cx="6477470" cy="922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 dirty="0" err="1"/>
              <a:t>관리감독자</a:t>
            </a:r>
            <a:r>
              <a:rPr lang="ko-KR" altLang="ko-KR" sz="1200" b="1" dirty="0"/>
              <a:t> 법적 정의</a:t>
            </a:r>
          </a:p>
          <a:p>
            <a:pPr marL="171399" indent="-171399">
              <a:lnSpc>
                <a:spcPct val="150000"/>
              </a:lnSpc>
              <a:buFontTx/>
              <a:buChar char="-"/>
            </a:pPr>
            <a:r>
              <a:rPr lang="ko-KR" altLang="ko-KR" sz="1200" dirty="0"/>
              <a:t>사업장의 생산과 관련되는 업무와 그 소속 직원을 지휘</a:t>
            </a:r>
            <a:r>
              <a:rPr lang="en-US" altLang="ko-KR" sz="1200" dirty="0"/>
              <a:t>. </a:t>
            </a:r>
            <a:r>
              <a:rPr lang="ko-KR" altLang="ko-KR" sz="1200" dirty="0"/>
              <a:t>감독하는 직위에 있는 사람을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  </a:t>
            </a:r>
            <a:r>
              <a:rPr lang="ko-KR" altLang="ko-KR" sz="1200" dirty="0"/>
              <a:t>선임하여 산업 안전 및 보건에 관한 업무를 수행토록 함</a:t>
            </a:r>
            <a:r>
              <a:rPr lang="en-US" altLang="ko-KR" sz="1200" dirty="0"/>
              <a:t> (</a:t>
            </a:r>
            <a:r>
              <a:rPr lang="ko-KR" altLang="ko-KR" sz="1200" dirty="0"/>
              <a:t>직장</a:t>
            </a:r>
            <a:r>
              <a:rPr lang="en-US" altLang="ko-KR" sz="1200" dirty="0"/>
              <a:t>, </a:t>
            </a:r>
            <a:r>
              <a:rPr lang="ko-KR" altLang="ko-KR" sz="1200" dirty="0"/>
              <a:t>조장</a:t>
            </a:r>
            <a:r>
              <a:rPr lang="en-US" altLang="ko-KR" sz="1200" dirty="0"/>
              <a:t>, </a:t>
            </a:r>
            <a:r>
              <a:rPr lang="ko-KR" altLang="ko-KR" sz="1200" dirty="0"/>
              <a:t>반장</a:t>
            </a:r>
            <a:r>
              <a:rPr lang="en-US" altLang="ko-KR" sz="1200" dirty="0"/>
              <a:t>, </a:t>
            </a:r>
            <a:r>
              <a:rPr lang="ko-KR" altLang="ko-KR" sz="1200" dirty="0"/>
              <a:t>생산과장 등</a:t>
            </a:r>
            <a:r>
              <a:rPr lang="en-US" altLang="ko-KR" sz="1200" dirty="0"/>
              <a:t>)</a:t>
            </a:r>
            <a:endParaRPr lang="ko-KR" altLang="ko-KR" sz="1200" dirty="0"/>
          </a:p>
        </p:txBody>
      </p:sp>
      <p:sp>
        <p:nvSpPr>
          <p:cNvPr id="48" name="직사각형 47"/>
          <p:cNvSpPr/>
          <p:nvPr/>
        </p:nvSpPr>
        <p:spPr>
          <a:xfrm>
            <a:off x="5320811" y="5846775"/>
            <a:ext cx="6827510" cy="8876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 dirty="0" err="1"/>
              <a:t>관리감독자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선임 기준</a:t>
            </a:r>
            <a:endParaRPr lang="en-US" altLang="ko-KR" sz="1200" b="1" dirty="0"/>
          </a:p>
          <a:p>
            <a:pPr marL="228531" indent="-228531">
              <a:lnSpc>
                <a:spcPct val="150000"/>
              </a:lnSpc>
              <a:buAutoNum type="arabicPeriod"/>
            </a:pPr>
            <a:r>
              <a:rPr lang="ko-KR" altLang="en-US" sz="1200" dirty="0" err="1"/>
              <a:t>상시근로자</a:t>
            </a:r>
            <a:r>
              <a:rPr lang="ko-KR" altLang="en-US" sz="1200" dirty="0"/>
              <a:t> </a:t>
            </a:r>
            <a:r>
              <a:rPr lang="en-US" altLang="ko-KR" sz="1200" dirty="0"/>
              <a:t>5</a:t>
            </a:r>
            <a:r>
              <a:rPr lang="ko-KR" altLang="en-US" sz="1200" dirty="0"/>
              <a:t>인 이상 사업장에 현장에서 직접 소속직원을 지휘</a:t>
            </a:r>
            <a:r>
              <a:rPr lang="en-US" altLang="ko-KR" sz="1200" dirty="0"/>
              <a:t>, </a:t>
            </a:r>
            <a:r>
              <a:rPr lang="ko-KR" altLang="en-US" sz="1200" dirty="0"/>
              <a:t>감독하는 위치에 있는 근로자</a:t>
            </a:r>
            <a:endParaRPr lang="en-US" altLang="ko-KR" sz="1200" dirty="0"/>
          </a:p>
          <a:p>
            <a:pPr marL="228531" indent="-228531">
              <a:lnSpc>
                <a:spcPct val="150000"/>
              </a:lnSpc>
              <a:buAutoNum type="arabicPeriod"/>
            </a:pPr>
            <a:r>
              <a:rPr lang="ko-KR" altLang="en-US" sz="1200" dirty="0"/>
              <a:t>사업주로부터 관리감독자로 임명 받은 근로자</a:t>
            </a:r>
            <a:endParaRPr lang="en-US" altLang="ko-KR" sz="1200" dirty="0"/>
          </a:p>
        </p:txBody>
      </p:sp>
      <p:sp>
        <p:nvSpPr>
          <p:cNvPr id="41" name="직사각형 40"/>
          <p:cNvSpPr/>
          <p:nvPr/>
        </p:nvSpPr>
        <p:spPr>
          <a:xfrm>
            <a:off x="4794243" y="3182555"/>
            <a:ext cx="1053134" cy="24012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강응구</a:t>
            </a:r>
            <a:r>
              <a:rPr lang="ko-KR" altLang="en-US" sz="900" dirty="0">
                <a:solidFill>
                  <a:schemeClr val="tx1"/>
                </a:solidFill>
              </a:rPr>
              <a:t> 부서장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959724" y="3176317"/>
            <a:ext cx="1053134" cy="24012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남관</a:t>
            </a:r>
            <a:r>
              <a:rPr lang="ko-KR" altLang="en-US" sz="900" dirty="0">
                <a:solidFill>
                  <a:schemeClr val="tx1"/>
                </a:solidFill>
              </a:rPr>
              <a:t> 부서장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319341" y="3470755"/>
            <a:ext cx="4573439" cy="1660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/>
          <a:lstStyle/>
          <a:p>
            <a:pPr algn="ctr">
              <a:spcAft>
                <a:spcPts val="331"/>
              </a:spcAft>
            </a:pPr>
            <a:r>
              <a:rPr lang="ko-KR" altLang="en-US" sz="1000" b="1" dirty="0">
                <a:solidFill>
                  <a:schemeClr val="tx1"/>
                </a:solidFill>
                <a:ea typeface="맑은 고딕"/>
              </a:rPr>
              <a:t>안전관리팀 구성 </a:t>
            </a:r>
            <a:r>
              <a:rPr lang="en-US" altLang="ko-KR" sz="1000" b="1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ea typeface="맑은 고딕"/>
              </a:rPr>
              <a:t>총 </a:t>
            </a:r>
            <a:r>
              <a:rPr lang="en-US" altLang="ko-KR" sz="1000" b="1" dirty="0">
                <a:solidFill>
                  <a:schemeClr val="tx1"/>
                </a:solidFill>
                <a:ea typeface="맑은 고딕"/>
              </a:rPr>
              <a:t>14</a:t>
            </a:r>
            <a:r>
              <a:rPr lang="ko-KR" altLang="en-US" sz="1000" b="1" dirty="0">
                <a:solidFill>
                  <a:schemeClr val="tx1"/>
                </a:solidFill>
                <a:ea typeface="맑은 고딕"/>
              </a:rPr>
              <a:t>명</a:t>
            </a:r>
            <a:r>
              <a:rPr lang="en-US" altLang="ko-KR" sz="1000" b="1" dirty="0">
                <a:solidFill>
                  <a:schemeClr val="tx1"/>
                </a:solidFill>
                <a:ea typeface="맑은 고딕"/>
              </a:rPr>
              <a:t>)</a:t>
            </a:r>
          </a:p>
          <a:p>
            <a:pPr algn="ctr">
              <a:spcAft>
                <a:spcPts val="331"/>
              </a:spcAft>
            </a:pPr>
            <a:endParaRPr lang="en-US" altLang="ko-KR" sz="1029" b="1" dirty="0">
              <a:solidFill>
                <a:schemeClr val="tx1"/>
              </a:solidFill>
            </a:endParaRPr>
          </a:p>
          <a:p>
            <a:pPr>
              <a:spcAft>
                <a:spcPts val="331"/>
              </a:spcAft>
            </a:pPr>
            <a:r>
              <a:rPr lang="en-US" altLang="ko-KR" sz="993" dirty="0">
                <a:solidFill>
                  <a:schemeClr val="tx1"/>
                </a:solidFill>
              </a:rPr>
              <a:t>- </a:t>
            </a:r>
            <a:r>
              <a:rPr lang="ko-KR" altLang="en-US" sz="993" dirty="0">
                <a:solidFill>
                  <a:schemeClr val="tx1"/>
                </a:solidFill>
              </a:rPr>
              <a:t>팀장 </a:t>
            </a:r>
            <a:r>
              <a:rPr lang="en-US" altLang="ko-KR" sz="993" dirty="0">
                <a:solidFill>
                  <a:schemeClr val="tx1"/>
                </a:solidFill>
              </a:rPr>
              <a:t>: </a:t>
            </a:r>
            <a:r>
              <a:rPr lang="ko-KR" altLang="en-US" sz="993" dirty="0" err="1">
                <a:solidFill>
                  <a:schemeClr val="tx1"/>
                </a:solidFill>
              </a:rPr>
              <a:t>서우성</a:t>
            </a:r>
            <a:r>
              <a:rPr lang="ko-KR" altLang="en-US" sz="993" dirty="0">
                <a:solidFill>
                  <a:schemeClr val="tx1"/>
                </a:solidFill>
              </a:rPr>
              <a:t> 과장</a:t>
            </a:r>
            <a:endParaRPr lang="en-US" altLang="ko-KR" sz="993" dirty="0">
              <a:solidFill>
                <a:schemeClr val="tx1"/>
              </a:solidFill>
            </a:endParaRPr>
          </a:p>
          <a:p>
            <a:pPr>
              <a:spcAft>
                <a:spcPts val="331"/>
              </a:spcAft>
            </a:pPr>
            <a:r>
              <a:rPr lang="en-US" altLang="ko-KR" sz="993" dirty="0">
                <a:solidFill>
                  <a:schemeClr val="tx1"/>
                </a:solidFill>
              </a:rPr>
              <a:t>- </a:t>
            </a:r>
            <a:r>
              <a:rPr lang="ko-KR" altLang="en-US" sz="993" dirty="0">
                <a:solidFill>
                  <a:schemeClr val="tx1"/>
                </a:solidFill>
              </a:rPr>
              <a:t>안전 </a:t>
            </a:r>
            <a:r>
              <a:rPr lang="en-US" altLang="ko-KR" sz="993" dirty="0">
                <a:solidFill>
                  <a:schemeClr val="tx1"/>
                </a:solidFill>
              </a:rPr>
              <a:t>: </a:t>
            </a:r>
            <a:r>
              <a:rPr lang="ko-KR" altLang="en-US" sz="993" dirty="0">
                <a:solidFill>
                  <a:schemeClr val="tx1"/>
                </a:solidFill>
              </a:rPr>
              <a:t>함석현 대리</a:t>
            </a:r>
            <a:endParaRPr lang="en-US" altLang="ko-KR" sz="993" dirty="0">
              <a:solidFill>
                <a:schemeClr val="tx1"/>
              </a:solidFill>
            </a:endParaRPr>
          </a:p>
          <a:p>
            <a:pPr>
              <a:spcAft>
                <a:spcPts val="331"/>
              </a:spcAft>
            </a:pPr>
            <a:r>
              <a:rPr lang="en-US" altLang="ko-KR" sz="950" dirty="0">
                <a:solidFill>
                  <a:schemeClr val="tx1"/>
                </a:solidFill>
                <a:ea typeface="맑은 고딕"/>
              </a:rPr>
              <a:t>- </a:t>
            </a:r>
            <a:r>
              <a:rPr lang="ko-KR" altLang="en-US" sz="950" dirty="0">
                <a:solidFill>
                  <a:schemeClr val="tx1"/>
                </a:solidFill>
                <a:ea typeface="맑은 고딕"/>
              </a:rPr>
              <a:t>보건 </a:t>
            </a:r>
            <a:r>
              <a:rPr lang="en-US" altLang="ko-KR" sz="950" dirty="0">
                <a:solidFill>
                  <a:schemeClr val="tx1"/>
                </a:solidFill>
                <a:ea typeface="맑은 고딕"/>
              </a:rPr>
              <a:t>: </a:t>
            </a:r>
            <a:r>
              <a:rPr lang="ko-KR" altLang="en-US" sz="950" dirty="0">
                <a:solidFill>
                  <a:schemeClr val="tx1"/>
                </a:solidFill>
                <a:ea typeface="맑은 고딕"/>
              </a:rPr>
              <a:t>이창현 주임</a:t>
            </a:r>
            <a:r>
              <a:rPr lang="en-US" altLang="ko-KR" sz="950" dirty="0">
                <a:solidFill>
                  <a:schemeClr val="tx1"/>
                </a:solidFill>
                <a:ea typeface="맑은 고딕"/>
              </a:rPr>
              <a:t>, </a:t>
            </a:r>
            <a:r>
              <a:rPr lang="ko-KR" altLang="en-US" sz="950" dirty="0">
                <a:solidFill>
                  <a:schemeClr val="tx1"/>
                </a:solidFill>
                <a:ea typeface="맑은 고딕"/>
              </a:rPr>
              <a:t>강승지 사원 </a:t>
            </a:r>
            <a:r>
              <a:rPr lang="en-US" altLang="ko-KR" sz="95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950" dirty="0">
                <a:solidFill>
                  <a:schemeClr val="tx1"/>
                </a:solidFill>
                <a:ea typeface="맑은 고딕"/>
              </a:rPr>
              <a:t>주간</a:t>
            </a:r>
            <a:r>
              <a:rPr lang="en-US" altLang="ko-KR" sz="950" dirty="0">
                <a:solidFill>
                  <a:schemeClr val="tx1"/>
                </a:solidFill>
                <a:ea typeface="맑은 고딕"/>
              </a:rPr>
              <a:t>), </a:t>
            </a:r>
            <a:r>
              <a:rPr lang="ko-KR" altLang="en-US" sz="950" dirty="0">
                <a:solidFill>
                  <a:schemeClr val="tx1"/>
                </a:solidFill>
                <a:ea typeface="맑은 고딕"/>
              </a:rPr>
              <a:t>정민주 사원 </a:t>
            </a:r>
            <a:r>
              <a:rPr lang="en-US" altLang="ko-KR" sz="95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950" dirty="0">
                <a:solidFill>
                  <a:schemeClr val="tx1"/>
                </a:solidFill>
                <a:ea typeface="맑은 고딕"/>
              </a:rPr>
              <a:t>야간</a:t>
            </a:r>
            <a:r>
              <a:rPr lang="en-US" altLang="ko-KR" sz="950" dirty="0">
                <a:solidFill>
                  <a:schemeClr val="tx1"/>
                </a:solidFill>
                <a:ea typeface="맑은 고딕"/>
              </a:rPr>
              <a:t>)</a:t>
            </a:r>
          </a:p>
          <a:p>
            <a:pPr>
              <a:spcAft>
                <a:spcPts val="331"/>
              </a:spcAft>
            </a:pPr>
            <a:r>
              <a:rPr lang="en-US" altLang="ko-KR" sz="993" dirty="0">
                <a:solidFill>
                  <a:schemeClr val="tx1"/>
                </a:solidFill>
              </a:rPr>
              <a:t>- </a:t>
            </a:r>
            <a:r>
              <a:rPr lang="ko-KR" altLang="en-US" sz="993" dirty="0">
                <a:solidFill>
                  <a:schemeClr val="tx1"/>
                </a:solidFill>
              </a:rPr>
              <a:t>순찰 </a:t>
            </a:r>
            <a:r>
              <a:rPr lang="en-US" altLang="ko-KR" sz="993" dirty="0">
                <a:solidFill>
                  <a:schemeClr val="tx1"/>
                </a:solidFill>
              </a:rPr>
              <a:t>: </a:t>
            </a:r>
            <a:r>
              <a:rPr lang="ko-KR" altLang="en-US" sz="993" dirty="0" err="1">
                <a:solidFill>
                  <a:schemeClr val="tx1"/>
                </a:solidFill>
              </a:rPr>
              <a:t>김향기</a:t>
            </a:r>
            <a:r>
              <a:rPr lang="ko-KR" altLang="en-US" sz="993" dirty="0">
                <a:solidFill>
                  <a:schemeClr val="tx1"/>
                </a:solidFill>
              </a:rPr>
              <a:t> 조장</a:t>
            </a:r>
            <a:r>
              <a:rPr lang="en-US" altLang="ko-KR" sz="993" dirty="0">
                <a:solidFill>
                  <a:schemeClr val="tx1"/>
                </a:solidFill>
              </a:rPr>
              <a:t>, </a:t>
            </a:r>
            <a:r>
              <a:rPr lang="ko-KR" altLang="en-US" sz="993" dirty="0">
                <a:solidFill>
                  <a:schemeClr val="tx1"/>
                </a:solidFill>
              </a:rPr>
              <a:t>정민규 </a:t>
            </a:r>
            <a:r>
              <a:rPr lang="ko-KR" altLang="en-US" sz="993" dirty="0" err="1">
                <a:solidFill>
                  <a:schemeClr val="tx1"/>
                </a:solidFill>
              </a:rPr>
              <a:t>부조장</a:t>
            </a:r>
            <a:r>
              <a:rPr lang="en-US" altLang="ko-KR" sz="993" dirty="0">
                <a:solidFill>
                  <a:schemeClr val="tx1"/>
                </a:solidFill>
              </a:rPr>
              <a:t>, </a:t>
            </a:r>
            <a:r>
              <a:rPr lang="ko-KR" altLang="en-US" sz="993" dirty="0">
                <a:solidFill>
                  <a:schemeClr val="tx1"/>
                </a:solidFill>
              </a:rPr>
              <a:t>장원재</a:t>
            </a:r>
            <a:r>
              <a:rPr lang="en-US" altLang="ko-KR" sz="993" dirty="0">
                <a:solidFill>
                  <a:schemeClr val="tx1"/>
                </a:solidFill>
              </a:rPr>
              <a:t>·</a:t>
            </a:r>
            <a:r>
              <a:rPr lang="ko-KR" altLang="en-US" sz="993" dirty="0" err="1">
                <a:solidFill>
                  <a:schemeClr val="tx1"/>
                </a:solidFill>
              </a:rPr>
              <a:t>배진웅</a:t>
            </a:r>
            <a:r>
              <a:rPr lang="en-US" altLang="ko-KR" sz="993" dirty="0">
                <a:solidFill>
                  <a:schemeClr val="tx1"/>
                </a:solidFill>
              </a:rPr>
              <a:t>·</a:t>
            </a:r>
            <a:r>
              <a:rPr lang="ko-KR" altLang="en-US" sz="993" dirty="0">
                <a:solidFill>
                  <a:schemeClr val="tx1"/>
                </a:solidFill>
              </a:rPr>
              <a:t>박기영</a:t>
            </a:r>
            <a:r>
              <a:rPr lang="en-US" altLang="ko-KR" sz="993" dirty="0">
                <a:solidFill>
                  <a:schemeClr val="tx1"/>
                </a:solidFill>
              </a:rPr>
              <a:t>·</a:t>
            </a:r>
            <a:r>
              <a:rPr lang="ko-KR" altLang="en-US" sz="993" dirty="0">
                <a:solidFill>
                  <a:schemeClr val="tx1"/>
                </a:solidFill>
              </a:rPr>
              <a:t>진준영 사원 </a:t>
            </a:r>
            <a:r>
              <a:rPr lang="en-US" altLang="ko-KR" sz="993" dirty="0">
                <a:solidFill>
                  <a:schemeClr val="tx1"/>
                </a:solidFill>
              </a:rPr>
              <a:t>(</a:t>
            </a:r>
            <a:r>
              <a:rPr lang="ko-KR" altLang="en-US" sz="993" dirty="0">
                <a:solidFill>
                  <a:schemeClr val="tx1"/>
                </a:solidFill>
              </a:rPr>
              <a:t>주간)</a:t>
            </a:r>
            <a:endParaRPr lang="en-US" altLang="ko-KR" sz="993" dirty="0">
              <a:solidFill>
                <a:schemeClr val="tx1"/>
              </a:solidFill>
            </a:endParaRPr>
          </a:p>
          <a:p>
            <a:pPr>
              <a:spcAft>
                <a:spcPts val="331"/>
              </a:spcAft>
            </a:pPr>
            <a:r>
              <a:rPr lang="ko-KR" altLang="en-US" sz="993" dirty="0">
                <a:solidFill>
                  <a:schemeClr val="tx1"/>
                </a:solidFill>
              </a:rPr>
              <a:t>           조재민 </a:t>
            </a:r>
            <a:r>
              <a:rPr lang="ko-KR" altLang="en-US" sz="993" dirty="0" err="1">
                <a:solidFill>
                  <a:schemeClr val="tx1"/>
                </a:solidFill>
              </a:rPr>
              <a:t>부조장</a:t>
            </a:r>
            <a:r>
              <a:rPr lang="en-US" altLang="ko-KR" sz="993" dirty="0">
                <a:solidFill>
                  <a:schemeClr val="tx1"/>
                </a:solidFill>
              </a:rPr>
              <a:t>, </a:t>
            </a:r>
            <a:r>
              <a:rPr lang="ko-KR" altLang="en-US" sz="993" dirty="0" err="1">
                <a:solidFill>
                  <a:schemeClr val="tx1"/>
                </a:solidFill>
              </a:rPr>
              <a:t>허진혁</a:t>
            </a:r>
            <a:r>
              <a:rPr lang="en-US" altLang="ko-KR" sz="993" dirty="0">
                <a:solidFill>
                  <a:schemeClr val="tx1"/>
                </a:solidFill>
              </a:rPr>
              <a:t>·</a:t>
            </a:r>
            <a:r>
              <a:rPr lang="ko-KR" altLang="en-US" sz="993" dirty="0">
                <a:solidFill>
                  <a:schemeClr val="tx1"/>
                </a:solidFill>
              </a:rPr>
              <a:t>박경민 사원 </a:t>
            </a:r>
            <a:r>
              <a:rPr lang="en-US" altLang="ko-KR" sz="993" dirty="0">
                <a:solidFill>
                  <a:schemeClr val="tx1"/>
                </a:solidFill>
              </a:rPr>
              <a:t>(</a:t>
            </a:r>
            <a:r>
              <a:rPr lang="ko-KR" altLang="en-US" sz="993" dirty="0">
                <a:solidFill>
                  <a:schemeClr val="tx1"/>
                </a:solidFill>
              </a:rPr>
              <a:t>야간</a:t>
            </a:r>
            <a:r>
              <a:rPr lang="en-US" altLang="ko-KR" sz="993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31"/>
              </a:spcAft>
            </a:pPr>
            <a:r>
              <a:rPr lang="en-US" altLang="ko-KR" sz="993" b="1" dirty="0">
                <a:solidFill>
                  <a:schemeClr val="tx1"/>
                </a:solidFill>
                <a:ea typeface="맑은 고딕"/>
              </a:rPr>
              <a:t>             </a:t>
            </a:r>
            <a:r>
              <a:rPr lang="en-US" altLang="ko-KR" sz="950" b="1" dirty="0">
                <a:solidFill>
                  <a:srgbClr val="0000CC"/>
                </a:solidFill>
                <a:ea typeface="맑은 고딕"/>
              </a:rPr>
              <a:t>* </a:t>
            </a:r>
            <a:r>
              <a:rPr lang="ko-KR" altLang="en-US" sz="950" b="1" dirty="0">
                <a:solidFill>
                  <a:srgbClr val="0000CC"/>
                </a:solidFill>
                <a:ea typeface="맑은 고딕"/>
              </a:rPr>
              <a:t>관리감독자 </a:t>
            </a:r>
            <a:r>
              <a:rPr lang="en-US" altLang="ko-KR" sz="950" b="1" dirty="0">
                <a:solidFill>
                  <a:srgbClr val="0000CC"/>
                </a:solidFill>
                <a:ea typeface="맑은 고딕"/>
              </a:rPr>
              <a:t>(2</a:t>
            </a:r>
            <a:r>
              <a:rPr lang="ko-KR" altLang="en-US" sz="950" b="1" dirty="0">
                <a:solidFill>
                  <a:srgbClr val="0000CC"/>
                </a:solidFill>
                <a:ea typeface="맑은 고딕"/>
              </a:rPr>
              <a:t>명</a:t>
            </a:r>
            <a:r>
              <a:rPr lang="en-US" altLang="ko-KR" sz="950" b="1" dirty="0">
                <a:solidFill>
                  <a:srgbClr val="0000CC"/>
                </a:solidFill>
                <a:ea typeface="맑은 고딕"/>
              </a:rPr>
              <a:t>)</a:t>
            </a:r>
            <a:r>
              <a:rPr lang="ko-KR" altLang="en-US" sz="950" b="1" dirty="0">
                <a:solidFill>
                  <a:srgbClr val="0000CC"/>
                </a:solidFill>
                <a:ea typeface="맑은 고딕"/>
              </a:rPr>
              <a:t> </a:t>
            </a:r>
            <a:r>
              <a:rPr lang="en-US" altLang="ko-KR" sz="950" b="1" dirty="0">
                <a:solidFill>
                  <a:srgbClr val="0000CC"/>
                </a:solidFill>
                <a:ea typeface="맑은 고딕"/>
              </a:rPr>
              <a:t>: </a:t>
            </a:r>
            <a:r>
              <a:rPr lang="ko-KR" altLang="en-US" sz="950" b="1" dirty="0" err="1">
                <a:solidFill>
                  <a:srgbClr val="0000CC"/>
                </a:solidFill>
                <a:ea typeface="맑은 고딕"/>
              </a:rPr>
              <a:t>김향기</a:t>
            </a:r>
            <a:r>
              <a:rPr lang="ko-KR" altLang="en-US" sz="950" b="1" dirty="0">
                <a:solidFill>
                  <a:srgbClr val="0000CC"/>
                </a:solidFill>
                <a:ea typeface="맑은 고딕"/>
              </a:rPr>
              <a:t> 조장</a:t>
            </a:r>
            <a:r>
              <a:rPr lang="en-US" altLang="ko-KR" sz="950" b="1" dirty="0">
                <a:solidFill>
                  <a:srgbClr val="0000CC"/>
                </a:solidFill>
                <a:ea typeface="맑은 고딕"/>
              </a:rPr>
              <a:t>, </a:t>
            </a:r>
            <a:r>
              <a:rPr lang="ko-KR" altLang="en-US" sz="950" b="1" dirty="0">
                <a:solidFill>
                  <a:srgbClr val="0000CC"/>
                </a:solidFill>
                <a:ea typeface="맑은 고딕"/>
              </a:rPr>
              <a:t>조재민 </a:t>
            </a:r>
            <a:r>
              <a:rPr lang="ko-KR" altLang="en-US" sz="950" b="1" dirty="0" err="1">
                <a:solidFill>
                  <a:srgbClr val="0000CC"/>
                </a:solidFill>
                <a:ea typeface="맑은 고딕"/>
              </a:rPr>
              <a:t>부조장</a:t>
            </a:r>
            <a:endParaRPr lang="en-US" altLang="ko-KR" sz="950" b="1" dirty="0" err="1">
              <a:solidFill>
                <a:srgbClr val="0000CC"/>
              </a:solidFill>
              <a:ea typeface="맑은 고딕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941258" y="1518067"/>
            <a:ext cx="1708142" cy="4119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5987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물류관리부문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8131624" y="2103399"/>
            <a:ext cx="1326399" cy="675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물류시설관리부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부산시설관리팀</a:t>
            </a:r>
            <a:r>
              <a:rPr lang="en-US" altLang="ko-KR" sz="900" b="1" dirty="0">
                <a:solidFill>
                  <a:schemeClr val="tx1"/>
                </a:solidFill>
              </a:rPr>
              <a:t>(1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구국본</a:t>
            </a:r>
            <a:r>
              <a:rPr lang="ko-KR" altLang="en-US" sz="900" b="1" dirty="0">
                <a:solidFill>
                  <a:schemeClr val="tx1"/>
                </a:solidFill>
              </a:rPr>
              <a:t> 팀장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05032" y="5633177"/>
            <a:ext cx="1134444" cy="112641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Aft>
                <a:spcPts val="300"/>
              </a:spcAft>
            </a:pPr>
            <a:r>
              <a:rPr lang="ko-KR" altLang="en-US" sz="900" b="1" dirty="0">
                <a:solidFill>
                  <a:schemeClr val="tx1"/>
                </a:solidFill>
              </a:rPr>
              <a:t>배송방면분류팀</a:t>
            </a:r>
            <a:r>
              <a:rPr lang="en-US" altLang="ko-KR" sz="900" b="1" dirty="0">
                <a:solidFill>
                  <a:schemeClr val="tx1"/>
                </a:solidFill>
              </a:rPr>
              <a:t>(5</a:t>
            </a:r>
            <a:r>
              <a:rPr lang="ko-KR" altLang="en-US" sz="900" b="1" dirty="0">
                <a:solidFill>
                  <a:schemeClr val="tx1"/>
                </a:solidFill>
              </a:rPr>
              <a:t>명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b="1" dirty="0" err="1">
                <a:solidFill>
                  <a:schemeClr val="tx1"/>
                </a:solidFill>
              </a:rPr>
              <a:t>강웅진</a:t>
            </a:r>
            <a:r>
              <a:rPr lang="ko-KR" altLang="en-US" sz="900" b="1" dirty="0">
                <a:solidFill>
                  <a:schemeClr val="tx1"/>
                </a:solidFill>
              </a:rPr>
              <a:t> 팀장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chemeClr val="tx1"/>
                </a:solidFill>
              </a:rPr>
              <a:t>임준혁 </a:t>
            </a:r>
            <a:r>
              <a:rPr lang="ko-KR" altLang="en-US" sz="900" dirty="0" err="1">
                <a:solidFill>
                  <a:schemeClr val="tx1"/>
                </a:solidFill>
              </a:rPr>
              <a:t>라인장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chemeClr val="tx1"/>
                </a:solidFill>
              </a:rPr>
              <a:t>손두현</a:t>
            </a:r>
            <a:r>
              <a:rPr lang="ko-KR" altLang="en-US" sz="900" dirty="0">
                <a:solidFill>
                  <a:schemeClr val="tx1"/>
                </a:solidFill>
              </a:rPr>
              <a:t> 조장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900" dirty="0" err="1">
                <a:solidFill>
                  <a:srgbClr val="0000FF"/>
                </a:solidFill>
              </a:rPr>
              <a:t>안석주</a:t>
            </a:r>
            <a:r>
              <a:rPr lang="ko-KR" altLang="en-US" sz="900" dirty="0">
                <a:solidFill>
                  <a:srgbClr val="0000FF"/>
                </a:solidFill>
              </a:rPr>
              <a:t> </a:t>
            </a:r>
            <a:r>
              <a:rPr lang="ko-KR" altLang="en-US" sz="900" dirty="0" err="1">
                <a:solidFill>
                  <a:srgbClr val="0000FF"/>
                </a:solidFill>
              </a:rPr>
              <a:t>라인장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900" dirty="0">
                <a:solidFill>
                  <a:srgbClr val="0000FF"/>
                </a:solidFill>
              </a:rPr>
              <a:t>장재호 조장</a:t>
            </a:r>
            <a:r>
              <a:rPr lang="en-US" altLang="ko-KR" sz="900" dirty="0">
                <a:solidFill>
                  <a:srgbClr val="0000FF"/>
                </a:solidFill>
              </a:rPr>
              <a:t>(</a:t>
            </a:r>
            <a:r>
              <a:rPr lang="ko-KR" altLang="en-US" sz="900" dirty="0">
                <a:solidFill>
                  <a:srgbClr val="0000FF"/>
                </a:solidFill>
              </a:rPr>
              <a:t>야</a:t>
            </a:r>
            <a:r>
              <a:rPr lang="en-US" altLang="ko-KR" sz="900" dirty="0">
                <a:solidFill>
                  <a:srgbClr val="0000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6015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0ECDEA71BE7E488F050BD0D0654AC3" ma:contentTypeVersion="10" ma:contentTypeDescription="Create a new document." ma:contentTypeScope="" ma:versionID="822034c7d6e6399b31dcbbac710ff9dc">
  <xsd:schema xmlns:xsd="http://www.w3.org/2001/XMLSchema" xmlns:xs="http://www.w3.org/2001/XMLSchema" xmlns:p="http://schemas.microsoft.com/office/2006/metadata/properties" xmlns:ns2="5711178f-7c9e-4e43-b4e6-b26a241f6344" xmlns:ns3="0bf4ac6c-f34a-4643-82f6-6640ad4b8639" targetNamespace="http://schemas.microsoft.com/office/2006/metadata/properties" ma:root="true" ma:fieldsID="b42d51006320f73687b892da6f417d94" ns2:_="" ns3:_="">
    <xsd:import namespace="5711178f-7c9e-4e43-b4e6-b26a241f6344"/>
    <xsd:import namespace="0bf4ac6c-f34a-4643-82f6-6640ad4b86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1178f-7c9e-4e43-b4e6-b26a241f6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db74f55-b20a-4763-adbe-931e5ca4f7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f4ac6c-f34a-4643-82f6-6640ad4b863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200e96b-5a35-4cde-8812-496486b5c38c}" ma:internalName="TaxCatchAll" ma:showField="CatchAllData" ma:web="0bf4ac6c-f34a-4643-82f6-6640ad4b86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f4ac6c-f34a-4643-82f6-6640ad4b8639" xsi:nil="true"/>
    <lcf76f155ced4ddcb4097134ff3c332f xmlns="5711178f-7c9e-4e43-b4e6-b26a241f63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F5901C5-DA69-4CAB-A616-8FA284EBC935}"/>
</file>

<file path=customXml/itemProps2.xml><?xml version="1.0" encoding="utf-8"?>
<ds:datastoreItem xmlns:ds="http://schemas.openxmlformats.org/officeDocument/2006/customXml" ds:itemID="{F57CC1D0-73C9-4ADB-B243-C5BE0DCD52B3}"/>
</file>

<file path=customXml/itemProps3.xml><?xml version="1.0" encoding="utf-8"?>
<ds:datastoreItem xmlns:ds="http://schemas.openxmlformats.org/officeDocument/2006/customXml" ds:itemID="{E522D840-B555-4814-82BD-F9B26145E59B}"/>
</file>

<file path=docProps/app.xml><?xml version="1.0" encoding="utf-8"?>
<Properties xmlns="http://schemas.openxmlformats.org/officeDocument/2006/extended-properties" xmlns:vt="http://schemas.openxmlformats.org/officeDocument/2006/docPropsVTypes">
  <TotalTime>5836</TotalTime>
  <Words>655</Words>
  <Application>Microsoft Office PowerPoint</Application>
  <PresentationFormat>사용자 지정</PresentationFormat>
  <Paragraphs>146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2F-안전-양희정</dc:creator>
  <cp:lastModifiedBy>EQ2024090022</cp:lastModifiedBy>
  <cp:revision>375</cp:revision>
  <cp:lastPrinted>2026-05-20T02:31:41Z</cp:lastPrinted>
  <dcterms:created xsi:type="dcterms:W3CDTF">2020-01-06T05:33:44Z</dcterms:created>
  <dcterms:modified xsi:type="dcterms:W3CDTF">2026-07-02T00:31:44Z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0x010100080ECDEA71BE7E488F050BD0D0654AC3</vt:lpwstr>
  </property>
</Properties>
</file>